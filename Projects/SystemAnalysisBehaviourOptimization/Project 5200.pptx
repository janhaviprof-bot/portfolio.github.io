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embeddedFontLst>
    <p:embeddedFont>
      <p:font typeface="Play"/>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iesbu1/9e7mjEpl9WVaTMf+4G7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lay-bold.fntdata"/><Relationship Id="rId16" Type="http://schemas.openxmlformats.org/officeDocument/2006/relationships/font" Target="fonts/Play-regular.fntdata"/><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feedback from meeting: Figures were clear</a:t>
            </a:r>
            <a:endParaRPr/>
          </a:p>
          <a:p>
            <a:pPr indent="0" lvl="0" marL="0" rtl="0" algn="l">
              <a:spcBef>
                <a:spcPts val="0"/>
              </a:spcBef>
              <a:spcAft>
                <a:spcPts val="0"/>
              </a:spcAft>
              <a:buNone/>
            </a:pPr>
            <a:r>
              <a:rPr lang="en-US"/>
              <a:t>Question 1 - </a:t>
            </a:r>
            <a:br>
              <a:rPr lang="en-US"/>
            </a:b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Question 2 </a:t>
            </a:r>
            <a:br>
              <a:rPr lang="en-US"/>
            </a:br>
            <a:r>
              <a:rPr lang="en-US"/>
              <a:t>Were there any </a:t>
            </a:r>
            <a:r>
              <a:rPr lang="en-US"/>
              <a:t>other state variables the team considered?</a:t>
            </a:r>
            <a:br>
              <a:rPr lang="en-US"/>
            </a:br>
            <a:r>
              <a:rPr lang="en-US"/>
              <a:t>What was the next plan for question 2?</a:t>
            </a:r>
            <a:endParaRPr/>
          </a:p>
          <a:p>
            <a:pPr indent="0" lvl="0" marL="0" rtl="0" algn="l">
              <a:spcBef>
                <a:spcPts val="0"/>
              </a:spcBef>
              <a:spcAft>
                <a:spcPts val="0"/>
              </a:spcAft>
              <a:buNone/>
            </a:pPr>
            <a:r>
              <a:rPr lang="en-US"/>
              <a:t>Create a table for variables used.</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75af9e5a4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75af9e5a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75af9e5a4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d75af9e5a4_3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75af9e5a4_2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75af9e5a4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75af9e5a4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75af9e5a4_3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75af9e5a4_3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75af9e5a4_3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75af9e5a4_3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75af9e5a4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1" name="Google Shape;3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p:nvPr>
            <p:ph idx="2" type="pic"/>
          </p:nvPr>
        </p:nvSpPr>
        <p:spPr>
          <a:xfrm>
            <a:off x="5183188" y="987425"/>
            <a:ext cx="6172200" cy="4873625"/>
          </a:xfrm>
          <a:prstGeom prst="rect">
            <a:avLst/>
          </a:prstGeom>
          <a:noFill/>
          <a:ln>
            <a:noFill/>
          </a:ln>
        </p:spPr>
      </p:sp>
      <p:sp>
        <p:nvSpPr>
          <p:cNvPr id="64" name="Google Shape;64;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lang="en-US"/>
              <a:t>Systems Analysis, Behavior and Optimization Project</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Peer Review Deliverable 1 </a:t>
            </a:r>
            <a:endParaRPr/>
          </a:p>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d75af9e5a4_0_8"/>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Problem 1</a:t>
            </a:r>
            <a:endParaRPr/>
          </a:p>
        </p:txBody>
      </p:sp>
      <p:sp>
        <p:nvSpPr>
          <p:cNvPr id="91" name="Google Shape;91;g3d75af9e5a4_0_8"/>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US" sz="2300">
                <a:solidFill>
                  <a:schemeClr val="dk1"/>
                </a:solidFill>
              </a:rPr>
              <a:t>Reliability</a:t>
            </a:r>
            <a:r>
              <a:rPr b="1" lang="en-US" sz="2300">
                <a:solidFill>
                  <a:schemeClr val="dk1"/>
                </a:solidFill>
              </a:rPr>
              <a:t> Analysis</a:t>
            </a:r>
            <a:endParaRPr b="1" sz="2300">
              <a:solidFill>
                <a:schemeClr val="dk1"/>
              </a:solidFill>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d75af9e5a4_3_15"/>
          <p:cNvSpPr txBox="1"/>
          <p:nvPr>
            <p:ph type="title"/>
          </p:nvPr>
        </p:nvSpPr>
        <p:spPr>
          <a:xfrm>
            <a:off x="838200"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System Diagram</a:t>
            </a:r>
            <a:endParaRPr/>
          </a:p>
        </p:txBody>
      </p:sp>
      <p:pic>
        <p:nvPicPr>
          <p:cNvPr id="97" name="Google Shape;97;g3d75af9e5a4_3_15"/>
          <p:cNvPicPr preferRelativeResize="0"/>
          <p:nvPr/>
        </p:nvPicPr>
        <p:blipFill>
          <a:blip r:embed="rId3">
            <a:alphaModFix/>
          </a:blip>
          <a:stretch>
            <a:fillRect/>
          </a:stretch>
        </p:blipFill>
        <p:spPr>
          <a:xfrm>
            <a:off x="838200" y="1029425"/>
            <a:ext cx="10515600" cy="569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d75af9e5a4_2_2"/>
          <p:cNvSpPr/>
          <p:nvPr/>
        </p:nvSpPr>
        <p:spPr>
          <a:xfrm>
            <a:off x="2835784" y="456600"/>
            <a:ext cx="939300" cy="486300"/>
          </a:xfrm>
          <a:prstGeom prst="rect">
            <a:avLst/>
          </a:prstGeom>
          <a:solidFill>
            <a:schemeClr val="lt2"/>
          </a:solidFill>
          <a:ln cap="flat" cmpd="sng" w="10675">
            <a:solidFill>
              <a:schemeClr val="dk2"/>
            </a:solidFill>
            <a:prstDash val="solid"/>
            <a:round/>
            <a:headEnd len="sm" w="sm" type="none"/>
            <a:tailEnd len="sm" w="sm" type="none"/>
          </a:ln>
        </p:spPr>
        <p:txBody>
          <a:bodyPr anchorCtr="0" anchor="ctr" bIns="102400" lIns="102400" spcFirstLastPara="1" rIns="102400" wrap="square" tIns="102400">
            <a:noAutofit/>
          </a:bodyPr>
          <a:lstStyle/>
          <a:p>
            <a:pPr indent="0" lvl="0" marL="0" rtl="0" algn="ctr">
              <a:spcBef>
                <a:spcPts val="0"/>
              </a:spcBef>
              <a:spcAft>
                <a:spcPts val="0"/>
              </a:spcAft>
              <a:buNone/>
            </a:pPr>
            <a:r>
              <a:rPr lang="en-US" sz="784"/>
              <a:t>Trailing aircraft Fails GoAround</a:t>
            </a:r>
            <a:endParaRPr sz="784"/>
          </a:p>
        </p:txBody>
      </p:sp>
      <p:sp>
        <p:nvSpPr>
          <p:cNvPr id="103" name="Google Shape;103;g3d75af9e5a4_2_2"/>
          <p:cNvSpPr/>
          <p:nvPr/>
        </p:nvSpPr>
        <p:spPr>
          <a:xfrm>
            <a:off x="4305885" y="456600"/>
            <a:ext cx="939300" cy="486300"/>
          </a:xfrm>
          <a:prstGeom prst="rect">
            <a:avLst/>
          </a:prstGeom>
          <a:solidFill>
            <a:schemeClr val="lt2"/>
          </a:solidFill>
          <a:ln cap="flat" cmpd="sng" w="10675">
            <a:solidFill>
              <a:schemeClr val="dk2"/>
            </a:solidFill>
            <a:prstDash val="solid"/>
            <a:round/>
            <a:headEnd len="sm" w="sm" type="none"/>
            <a:tailEnd len="sm" w="sm" type="none"/>
          </a:ln>
        </p:spPr>
        <p:txBody>
          <a:bodyPr anchorCtr="0" anchor="ctr" bIns="102400" lIns="102400" spcFirstLastPara="1" rIns="102400" wrap="square" tIns="102400">
            <a:noAutofit/>
          </a:bodyPr>
          <a:lstStyle/>
          <a:p>
            <a:pPr indent="0" lvl="0" marL="0" rtl="0" algn="ctr">
              <a:spcBef>
                <a:spcPts val="0"/>
              </a:spcBef>
              <a:spcAft>
                <a:spcPts val="0"/>
              </a:spcAft>
              <a:buNone/>
            </a:pPr>
            <a:r>
              <a:rPr lang="en-US" sz="784"/>
              <a:t>Leading Aircraft Fails to leave runway</a:t>
            </a:r>
            <a:endParaRPr sz="784"/>
          </a:p>
        </p:txBody>
      </p:sp>
      <p:sp>
        <p:nvSpPr>
          <p:cNvPr id="104" name="Google Shape;104;g3d75af9e5a4_2_2"/>
          <p:cNvSpPr/>
          <p:nvPr/>
        </p:nvSpPr>
        <p:spPr>
          <a:xfrm>
            <a:off x="4660166" y="3286945"/>
            <a:ext cx="939300" cy="486300"/>
          </a:xfrm>
          <a:prstGeom prst="rect">
            <a:avLst/>
          </a:prstGeom>
          <a:solidFill>
            <a:schemeClr val="lt2"/>
          </a:solidFill>
          <a:ln cap="flat" cmpd="sng" w="10675">
            <a:solidFill>
              <a:schemeClr val="dk2"/>
            </a:solidFill>
            <a:prstDash val="solid"/>
            <a:round/>
            <a:headEnd len="sm" w="sm" type="none"/>
            <a:tailEnd len="sm" w="sm" type="none"/>
          </a:ln>
        </p:spPr>
        <p:txBody>
          <a:bodyPr anchorCtr="0" anchor="ctr" bIns="102400" lIns="102400" spcFirstLastPara="1" rIns="102400" wrap="square" tIns="102400">
            <a:noAutofit/>
          </a:bodyPr>
          <a:lstStyle/>
          <a:p>
            <a:pPr indent="0" lvl="0" marL="0" rtl="0" algn="ctr">
              <a:spcBef>
                <a:spcPts val="0"/>
              </a:spcBef>
              <a:spcAft>
                <a:spcPts val="0"/>
              </a:spcAft>
              <a:buNone/>
            </a:pPr>
            <a:r>
              <a:rPr lang="en-US" sz="784"/>
              <a:t>Dangerous Wake</a:t>
            </a:r>
            <a:endParaRPr sz="784"/>
          </a:p>
        </p:txBody>
      </p:sp>
      <p:sp>
        <p:nvSpPr>
          <p:cNvPr id="105" name="Google Shape;105;g3d75af9e5a4_2_2"/>
          <p:cNvSpPr/>
          <p:nvPr/>
        </p:nvSpPr>
        <p:spPr>
          <a:xfrm>
            <a:off x="2705014" y="3286945"/>
            <a:ext cx="939300" cy="486300"/>
          </a:xfrm>
          <a:prstGeom prst="rect">
            <a:avLst/>
          </a:prstGeom>
          <a:solidFill>
            <a:schemeClr val="lt2"/>
          </a:solidFill>
          <a:ln cap="flat" cmpd="sng" w="10675">
            <a:solidFill>
              <a:schemeClr val="dk2"/>
            </a:solidFill>
            <a:prstDash val="solid"/>
            <a:round/>
            <a:headEnd len="sm" w="sm" type="none"/>
            <a:tailEnd len="sm" w="sm" type="none"/>
          </a:ln>
        </p:spPr>
        <p:txBody>
          <a:bodyPr anchorCtr="0" anchor="ctr" bIns="102400" lIns="102400" spcFirstLastPara="1" rIns="102400" wrap="square" tIns="102400">
            <a:noAutofit/>
          </a:bodyPr>
          <a:lstStyle/>
          <a:p>
            <a:pPr indent="0" lvl="0" marL="0" rtl="0" algn="ctr">
              <a:spcBef>
                <a:spcPts val="0"/>
              </a:spcBef>
              <a:spcAft>
                <a:spcPts val="0"/>
              </a:spcAft>
              <a:buNone/>
            </a:pPr>
            <a:r>
              <a:rPr lang="en-US" sz="784"/>
              <a:t>Detection Failure</a:t>
            </a:r>
            <a:endParaRPr sz="784"/>
          </a:p>
        </p:txBody>
      </p:sp>
      <p:sp>
        <p:nvSpPr>
          <p:cNvPr id="106" name="Google Shape;106;g3d75af9e5a4_2_2"/>
          <p:cNvSpPr/>
          <p:nvPr/>
        </p:nvSpPr>
        <p:spPr>
          <a:xfrm>
            <a:off x="6978810" y="4788826"/>
            <a:ext cx="939300" cy="486300"/>
          </a:xfrm>
          <a:prstGeom prst="rect">
            <a:avLst/>
          </a:prstGeom>
          <a:solidFill>
            <a:schemeClr val="lt2"/>
          </a:solidFill>
          <a:ln cap="flat" cmpd="sng" w="10675">
            <a:solidFill>
              <a:schemeClr val="dk2"/>
            </a:solidFill>
            <a:prstDash val="solid"/>
            <a:round/>
            <a:headEnd len="sm" w="sm" type="none"/>
            <a:tailEnd len="sm" w="sm" type="none"/>
          </a:ln>
        </p:spPr>
        <p:txBody>
          <a:bodyPr anchorCtr="0" anchor="ctr" bIns="102400" lIns="102400" spcFirstLastPara="1" rIns="102400" wrap="square" tIns="102400">
            <a:noAutofit/>
          </a:bodyPr>
          <a:lstStyle/>
          <a:p>
            <a:pPr indent="0" lvl="0" marL="0" rtl="0" algn="ctr">
              <a:spcBef>
                <a:spcPts val="0"/>
              </a:spcBef>
              <a:spcAft>
                <a:spcPts val="0"/>
              </a:spcAft>
              <a:buNone/>
            </a:pPr>
            <a:r>
              <a:rPr lang="en-US" sz="784"/>
              <a:t>Misestimate Weather</a:t>
            </a:r>
            <a:endParaRPr sz="784"/>
          </a:p>
        </p:txBody>
      </p:sp>
      <p:sp>
        <p:nvSpPr>
          <p:cNvPr id="107" name="Google Shape;107;g3d75af9e5a4_2_2"/>
          <p:cNvSpPr/>
          <p:nvPr/>
        </p:nvSpPr>
        <p:spPr>
          <a:xfrm>
            <a:off x="6978810" y="4062205"/>
            <a:ext cx="939300" cy="486300"/>
          </a:xfrm>
          <a:prstGeom prst="rect">
            <a:avLst/>
          </a:prstGeom>
          <a:solidFill>
            <a:schemeClr val="lt2"/>
          </a:solidFill>
          <a:ln cap="flat" cmpd="sng" w="10675">
            <a:solidFill>
              <a:schemeClr val="dk2"/>
            </a:solidFill>
            <a:prstDash val="solid"/>
            <a:round/>
            <a:headEnd len="sm" w="sm" type="none"/>
            <a:tailEnd len="sm" w="sm" type="none"/>
          </a:ln>
        </p:spPr>
        <p:txBody>
          <a:bodyPr anchorCtr="0" anchor="ctr" bIns="102400" lIns="102400" spcFirstLastPara="1" rIns="102400" wrap="square" tIns="102400">
            <a:noAutofit/>
          </a:bodyPr>
          <a:lstStyle/>
          <a:p>
            <a:pPr indent="0" lvl="0" marL="0" rtl="0" algn="ctr">
              <a:spcBef>
                <a:spcPts val="0"/>
              </a:spcBef>
              <a:spcAft>
                <a:spcPts val="0"/>
              </a:spcAft>
              <a:buNone/>
            </a:pPr>
            <a:r>
              <a:rPr lang="en-US" sz="784"/>
              <a:t>Misidentification</a:t>
            </a:r>
            <a:endParaRPr sz="784"/>
          </a:p>
        </p:txBody>
      </p:sp>
      <p:sp>
        <p:nvSpPr>
          <p:cNvPr id="108" name="Google Shape;108;g3d75af9e5a4_2_2"/>
          <p:cNvSpPr/>
          <p:nvPr/>
        </p:nvSpPr>
        <p:spPr>
          <a:xfrm>
            <a:off x="7003844" y="3407885"/>
            <a:ext cx="939300" cy="486300"/>
          </a:xfrm>
          <a:prstGeom prst="rect">
            <a:avLst/>
          </a:prstGeom>
          <a:solidFill>
            <a:schemeClr val="lt2"/>
          </a:solidFill>
          <a:ln cap="flat" cmpd="sng" w="10675">
            <a:solidFill>
              <a:schemeClr val="dk2"/>
            </a:solidFill>
            <a:prstDash val="solid"/>
            <a:round/>
            <a:headEnd len="sm" w="sm" type="none"/>
            <a:tailEnd len="sm" w="sm" type="none"/>
          </a:ln>
        </p:spPr>
        <p:txBody>
          <a:bodyPr anchorCtr="0" anchor="ctr" bIns="102400" lIns="102400" spcFirstLastPara="1" rIns="102400" wrap="square" tIns="102400">
            <a:noAutofit/>
          </a:bodyPr>
          <a:lstStyle/>
          <a:p>
            <a:pPr indent="0" lvl="0" marL="0" rtl="0" algn="ctr">
              <a:spcBef>
                <a:spcPts val="0"/>
              </a:spcBef>
              <a:spcAft>
                <a:spcPts val="0"/>
              </a:spcAft>
              <a:buNone/>
            </a:pPr>
            <a:r>
              <a:rPr lang="en-US" sz="784"/>
              <a:t>Late Communication</a:t>
            </a:r>
            <a:endParaRPr sz="784"/>
          </a:p>
        </p:txBody>
      </p:sp>
      <p:sp>
        <p:nvSpPr>
          <p:cNvPr id="109" name="Google Shape;109;g3d75af9e5a4_2_2"/>
          <p:cNvSpPr/>
          <p:nvPr/>
        </p:nvSpPr>
        <p:spPr>
          <a:xfrm>
            <a:off x="6978810" y="2099246"/>
            <a:ext cx="939300" cy="486300"/>
          </a:xfrm>
          <a:prstGeom prst="rect">
            <a:avLst/>
          </a:prstGeom>
          <a:solidFill>
            <a:schemeClr val="lt2"/>
          </a:solidFill>
          <a:ln cap="flat" cmpd="sng" w="10675">
            <a:solidFill>
              <a:schemeClr val="dk2"/>
            </a:solidFill>
            <a:prstDash val="solid"/>
            <a:round/>
            <a:headEnd len="sm" w="sm" type="none"/>
            <a:tailEnd len="sm" w="sm" type="none"/>
          </a:ln>
        </p:spPr>
        <p:txBody>
          <a:bodyPr anchorCtr="0" anchor="ctr" bIns="102400" lIns="102400" spcFirstLastPara="1" rIns="102400" wrap="square" tIns="102400">
            <a:noAutofit/>
          </a:bodyPr>
          <a:lstStyle/>
          <a:p>
            <a:pPr indent="0" lvl="0" marL="0" rtl="0" algn="ctr">
              <a:spcBef>
                <a:spcPts val="0"/>
              </a:spcBef>
              <a:spcAft>
                <a:spcPts val="0"/>
              </a:spcAft>
              <a:buNone/>
            </a:pPr>
            <a:r>
              <a:rPr lang="en-US" sz="784"/>
              <a:t>Leading aircraft GoAround</a:t>
            </a:r>
            <a:endParaRPr sz="784"/>
          </a:p>
        </p:txBody>
      </p:sp>
      <p:sp>
        <p:nvSpPr>
          <p:cNvPr id="110" name="Google Shape;110;g3d75af9e5a4_2_2"/>
          <p:cNvSpPr/>
          <p:nvPr/>
        </p:nvSpPr>
        <p:spPr>
          <a:xfrm>
            <a:off x="7003844" y="2753566"/>
            <a:ext cx="939300" cy="486300"/>
          </a:xfrm>
          <a:prstGeom prst="rect">
            <a:avLst/>
          </a:prstGeom>
          <a:solidFill>
            <a:schemeClr val="lt2"/>
          </a:solidFill>
          <a:ln cap="flat" cmpd="sng" w="10675">
            <a:solidFill>
              <a:schemeClr val="dk2"/>
            </a:solidFill>
            <a:prstDash val="solid"/>
            <a:round/>
            <a:headEnd len="sm" w="sm" type="none"/>
            <a:tailEnd len="sm" w="sm" type="none"/>
          </a:ln>
        </p:spPr>
        <p:txBody>
          <a:bodyPr anchorCtr="0" anchor="ctr" bIns="102400" lIns="102400" spcFirstLastPara="1" rIns="102400" wrap="square" tIns="102400">
            <a:noAutofit/>
          </a:bodyPr>
          <a:lstStyle/>
          <a:p>
            <a:pPr indent="0" lvl="0" marL="0" rtl="0" algn="ctr">
              <a:spcBef>
                <a:spcPts val="0"/>
              </a:spcBef>
              <a:spcAft>
                <a:spcPts val="0"/>
              </a:spcAft>
              <a:buNone/>
            </a:pPr>
            <a:r>
              <a:rPr lang="en-US" sz="784"/>
              <a:t>Pilot Cannot adjust speed</a:t>
            </a:r>
            <a:endParaRPr sz="784"/>
          </a:p>
        </p:txBody>
      </p:sp>
      <p:cxnSp>
        <p:nvCxnSpPr>
          <p:cNvPr id="111" name="Google Shape;111;g3d75af9e5a4_2_2"/>
          <p:cNvCxnSpPr>
            <a:stCxn id="102" idx="3"/>
            <a:endCxn id="103" idx="1"/>
          </p:cNvCxnSpPr>
          <p:nvPr/>
        </p:nvCxnSpPr>
        <p:spPr>
          <a:xfrm>
            <a:off x="3775084" y="699750"/>
            <a:ext cx="530700" cy="0"/>
          </a:xfrm>
          <a:prstGeom prst="straightConnector1">
            <a:avLst/>
          </a:prstGeom>
          <a:noFill/>
          <a:ln cap="flat" cmpd="sng" w="10675">
            <a:solidFill>
              <a:schemeClr val="dk2"/>
            </a:solidFill>
            <a:prstDash val="solid"/>
            <a:round/>
            <a:headEnd len="med" w="med" type="none"/>
            <a:tailEnd len="med" w="med" type="none"/>
          </a:ln>
        </p:spPr>
      </p:cxnSp>
      <p:cxnSp>
        <p:nvCxnSpPr>
          <p:cNvPr id="112" name="Google Shape;112;g3d75af9e5a4_2_2"/>
          <p:cNvCxnSpPr>
            <a:stCxn id="105" idx="3"/>
            <a:endCxn id="104" idx="1"/>
          </p:cNvCxnSpPr>
          <p:nvPr/>
        </p:nvCxnSpPr>
        <p:spPr>
          <a:xfrm>
            <a:off x="3644314" y="3530095"/>
            <a:ext cx="1015800" cy="0"/>
          </a:xfrm>
          <a:prstGeom prst="straightConnector1">
            <a:avLst/>
          </a:prstGeom>
          <a:noFill/>
          <a:ln cap="flat" cmpd="sng" w="10675">
            <a:solidFill>
              <a:schemeClr val="dk2"/>
            </a:solidFill>
            <a:prstDash val="solid"/>
            <a:round/>
            <a:headEnd len="med" w="med" type="none"/>
            <a:tailEnd len="med" w="med" type="none"/>
          </a:ln>
        </p:spPr>
      </p:cxnSp>
      <p:cxnSp>
        <p:nvCxnSpPr>
          <p:cNvPr id="113" name="Google Shape;113;g3d75af9e5a4_2_2"/>
          <p:cNvCxnSpPr/>
          <p:nvPr/>
        </p:nvCxnSpPr>
        <p:spPr>
          <a:xfrm>
            <a:off x="6400150" y="2203581"/>
            <a:ext cx="3600" cy="2825700"/>
          </a:xfrm>
          <a:prstGeom prst="straightConnector1">
            <a:avLst/>
          </a:prstGeom>
          <a:noFill/>
          <a:ln cap="flat" cmpd="sng" w="10675">
            <a:solidFill>
              <a:schemeClr val="dk2"/>
            </a:solidFill>
            <a:prstDash val="solid"/>
            <a:round/>
            <a:headEnd len="med" w="med" type="none"/>
            <a:tailEnd len="med" w="med" type="none"/>
          </a:ln>
        </p:spPr>
      </p:cxnSp>
      <p:cxnSp>
        <p:nvCxnSpPr>
          <p:cNvPr id="114" name="Google Shape;114;g3d75af9e5a4_2_2"/>
          <p:cNvCxnSpPr>
            <a:stCxn id="104" idx="3"/>
          </p:cNvCxnSpPr>
          <p:nvPr/>
        </p:nvCxnSpPr>
        <p:spPr>
          <a:xfrm>
            <a:off x="5599466" y="3530095"/>
            <a:ext cx="805800" cy="17700"/>
          </a:xfrm>
          <a:prstGeom prst="straightConnector1">
            <a:avLst/>
          </a:prstGeom>
          <a:noFill/>
          <a:ln cap="flat" cmpd="sng" w="10675">
            <a:solidFill>
              <a:schemeClr val="dk2"/>
            </a:solidFill>
            <a:prstDash val="solid"/>
            <a:round/>
            <a:headEnd len="med" w="med" type="none"/>
            <a:tailEnd len="med" w="med" type="none"/>
          </a:ln>
        </p:spPr>
      </p:cxnSp>
      <p:cxnSp>
        <p:nvCxnSpPr>
          <p:cNvPr id="115" name="Google Shape;115;g3d75af9e5a4_2_2"/>
          <p:cNvCxnSpPr/>
          <p:nvPr/>
        </p:nvCxnSpPr>
        <p:spPr>
          <a:xfrm>
            <a:off x="6390125" y="2223602"/>
            <a:ext cx="591000" cy="0"/>
          </a:xfrm>
          <a:prstGeom prst="straightConnector1">
            <a:avLst/>
          </a:prstGeom>
          <a:noFill/>
          <a:ln cap="flat" cmpd="sng" w="10675">
            <a:solidFill>
              <a:schemeClr val="dk2"/>
            </a:solidFill>
            <a:prstDash val="solid"/>
            <a:round/>
            <a:headEnd len="med" w="med" type="none"/>
            <a:tailEnd len="med" w="med" type="none"/>
          </a:ln>
        </p:spPr>
      </p:cxnSp>
      <p:cxnSp>
        <p:nvCxnSpPr>
          <p:cNvPr id="116" name="Google Shape;116;g3d75af9e5a4_2_2"/>
          <p:cNvCxnSpPr/>
          <p:nvPr/>
        </p:nvCxnSpPr>
        <p:spPr>
          <a:xfrm>
            <a:off x="2087572" y="710969"/>
            <a:ext cx="1200" cy="2823600"/>
          </a:xfrm>
          <a:prstGeom prst="straightConnector1">
            <a:avLst/>
          </a:prstGeom>
          <a:noFill/>
          <a:ln cap="flat" cmpd="sng" w="10675">
            <a:solidFill>
              <a:schemeClr val="dk2"/>
            </a:solidFill>
            <a:prstDash val="solid"/>
            <a:round/>
            <a:headEnd len="med" w="med" type="none"/>
            <a:tailEnd len="med" w="med" type="none"/>
          </a:ln>
        </p:spPr>
      </p:cxnSp>
      <p:cxnSp>
        <p:nvCxnSpPr>
          <p:cNvPr id="117" name="Google Shape;117;g3d75af9e5a4_2_2"/>
          <p:cNvCxnSpPr>
            <a:endCxn id="102" idx="1"/>
          </p:cNvCxnSpPr>
          <p:nvPr/>
        </p:nvCxnSpPr>
        <p:spPr>
          <a:xfrm flipH="1" rot="10800000">
            <a:off x="2072584" y="699750"/>
            <a:ext cx="763200" cy="1200"/>
          </a:xfrm>
          <a:prstGeom prst="straightConnector1">
            <a:avLst/>
          </a:prstGeom>
          <a:noFill/>
          <a:ln cap="flat" cmpd="sng" w="10675">
            <a:solidFill>
              <a:schemeClr val="dk2"/>
            </a:solidFill>
            <a:prstDash val="solid"/>
            <a:round/>
            <a:headEnd len="med" w="med" type="none"/>
            <a:tailEnd len="med" w="med" type="none"/>
          </a:ln>
        </p:spPr>
      </p:cxnSp>
      <p:cxnSp>
        <p:nvCxnSpPr>
          <p:cNvPr id="118" name="Google Shape;118;g3d75af9e5a4_2_2"/>
          <p:cNvCxnSpPr>
            <a:stCxn id="105" idx="1"/>
          </p:cNvCxnSpPr>
          <p:nvPr/>
        </p:nvCxnSpPr>
        <p:spPr>
          <a:xfrm rot="10800000">
            <a:off x="2078614" y="3525595"/>
            <a:ext cx="626400" cy="4500"/>
          </a:xfrm>
          <a:prstGeom prst="straightConnector1">
            <a:avLst/>
          </a:prstGeom>
          <a:noFill/>
          <a:ln cap="flat" cmpd="sng" w="10675">
            <a:solidFill>
              <a:schemeClr val="dk2"/>
            </a:solidFill>
            <a:prstDash val="solid"/>
            <a:round/>
            <a:headEnd len="med" w="med" type="none"/>
            <a:tailEnd len="med" w="med" type="none"/>
          </a:ln>
        </p:spPr>
      </p:cxnSp>
      <p:cxnSp>
        <p:nvCxnSpPr>
          <p:cNvPr id="119" name="Google Shape;119;g3d75af9e5a4_2_2"/>
          <p:cNvCxnSpPr>
            <a:stCxn id="108" idx="1"/>
          </p:cNvCxnSpPr>
          <p:nvPr/>
        </p:nvCxnSpPr>
        <p:spPr>
          <a:xfrm flipH="1">
            <a:off x="6409544" y="3651035"/>
            <a:ext cx="594300" cy="3900"/>
          </a:xfrm>
          <a:prstGeom prst="straightConnector1">
            <a:avLst/>
          </a:prstGeom>
          <a:noFill/>
          <a:ln cap="flat" cmpd="sng" w="10675">
            <a:solidFill>
              <a:schemeClr val="dk2"/>
            </a:solidFill>
            <a:prstDash val="solid"/>
            <a:round/>
            <a:headEnd len="med" w="med" type="none"/>
            <a:tailEnd len="med" w="med" type="none"/>
          </a:ln>
        </p:spPr>
      </p:cxnSp>
      <p:cxnSp>
        <p:nvCxnSpPr>
          <p:cNvPr id="120" name="Google Shape;120;g3d75af9e5a4_2_2"/>
          <p:cNvCxnSpPr/>
          <p:nvPr/>
        </p:nvCxnSpPr>
        <p:spPr>
          <a:xfrm flipH="1" rot="10800000">
            <a:off x="1078550" y="1992979"/>
            <a:ext cx="1009200" cy="8400"/>
          </a:xfrm>
          <a:prstGeom prst="straightConnector1">
            <a:avLst/>
          </a:prstGeom>
          <a:noFill/>
          <a:ln cap="flat" cmpd="sng" w="10675">
            <a:solidFill>
              <a:schemeClr val="dk2"/>
            </a:solidFill>
            <a:prstDash val="solid"/>
            <a:round/>
            <a:headEnd len="med" w="med" type="none"/>
            <a:tailEnd len="med" w="med" type="none"/>
          </a:ln>
        </p:spPr>
      </p:cxnSp>
      <p:cxnSp>
        <p:nvCxnSpPr>
          <p:cNvPr id="121" name="Google Shape;121;g3d75af9e5a4_2_2"/>
          <p:cNvCxnSpPr>
            <a:endCxn id="106" idx="1"/>
          </p:cNvCxnSpPr>
          <p:nvPr/>
        </p:nvCxnSpPr>
        <p:spPr>
          <a:xfrm>
            <a:off x="6393510" y="5026576"/>
            <a:ext cx="585300" cy="5400"/>
          </a:xfrm>
          <a:prstGeom prst="straightConnector1">
            <a:avLst/>
          </a:prstGeom>
          <a:noFill/>
          <a:ln cap="flat" cmpd="sng" w="10675">
            <a:solidFill>
              <a:schemeClr val="dk2"/>
            </a:solidFill>
            <a:prstDash val="solid"/>
            <a:round/>
            <a:headEnd len="med" w="med" type="none"/>
            <a:tailEnd len="med" w="med" type="none"/>
          </a:ln>
        </p:spPr>
      </p:cxnSp>
      <p:cxnSp>
        <p:nvCxnSpPr>
          <p:cNvPr id="122" name="Google Shape;122;g3d75af9e5a4_2_2"/>
          <p:cNvCxnSpPr>
            <a:stCxn id="107" idx="1"/>
          </p:cNvCxnSpPr>
          <p:nvPr/>
        </p:nvCxnSpPr>
        <p:spPr>
          <a:xfrm rot="10800000">
            <a:off x="6404310" y="4300555"/>
            <a:ext cx="574500" cy="4800"/>
          </a:xfrm>
          <a:prstGeom prst="straightConnector1">
            <a:avLst/>
          </a:prstGeom>
          <a:noFill/>
          <a:ln cap="flat" cmpd="sng" w="10675">
            <a:solidFill>
              <a:schemeClr val="dk2"/>
            </a:solidFill>
            <a:prstDash val="solid"/>
            <a:round/>
            <a:headEnd len="med" w="med" type="none"/>
            <a:tailEnd len="med" w="med" type="none"/>
          </a:ln>
        </p:spPr>
      </p:cxnSp>
      <p:cxnSp>
        <p:nvCxnSpPr>
          <p:cNvPr id="123" name="Google Shape;123;g3d75af9e5a4_2_2"/>
          <p:cNvCxnSpPr/>
          <p:nvPr/>
        </p:nvCxnSpPr>
        <p:spPr>
          <a:xfrm flipH="1">
            <a:off x="7926960" y="2262021"/>
            <a:ext cx="577200" cy="1200"/>
          </a:xfrm>
          <a:prstGeom prst="straightConnector1">
            <a:avLst/>
          </a:prstGeom>
          <a:noFill/>
          <a:ln cap="flat" cmpd="sng" w="10675">
            <a:solidFill>
              <a:schemeClr val="dk2"/>
            </a:solidFill>
            <a:prstDash val="solid"/>
            <a:round/>
            <a:headEnd len="med" w="med" type="none"/>
            <a:tailEnd len="med" w="med" type="none"/>
          </a:ln>
        </p:spPr>
      </p:cxnSp>
      <p:cxnSp>
        <p:nvCxnSpPr>
          <p:cNvPr id="124" name="Google Shape;124;g3d75af9e5a4_2_2"/>
          <p:cNvCxnSpPr/>
          <p:nvPr/>
        </p:nvCxnSpPr>
        <p:spPr>
          <a:xfrm rot="10800000">
            <a:off x="6415193" y="3005949"/>
            <a:ext cx="573600" cy="13200"/>
          </a:xfrm>
          <a:prstGeom prst="straightConnector1">
            <a:avLst/>
          </a:prstGeom>
          <a:noFill/>
          <a:ln cap="flat" cmpd="sng" w="10675">
            <a:solidFill>
              <a:schemeClr val="dk2"/>
            </a:solidFill>
            <a:prstDash val="solid"/>
            <a:round/>
            <a:headEnd len="med" w="med" type="none"/>
            <a:tailEnd len="med" w="med" type="none"/>
          </a:ln>
        </p:spPr>
      </p:cxnSp>
      <p:cxnSp>
        <p:nvCxnSpPr>
          <p:cNvPr id="125" name="Google Shape;125;g3d75af9e5a4_2_2"/>
          <p:cNvCxnSpPr/>
          <p:nvPr/>
        </p:nvCxnSpPr>
        <p:spPr>
          <a:xfrm>
            <a:off x="8509172" y="2257008"/>
            <a:ext cx="2100" cy="2781300"/>
          </a:xfrm>
          <a:prstGeom prst="straightConnector1">
            <a:avLst/>
          </a:prstGeom>
          <a:noFill/>
          <a:ln cap="flat" cmpd="sng" w="10675">
            <a:solidFill>
              <a:schemeClr val="dk2"/>
            </a:solidFill>
            <a:prstDash val="solid"/>
            <a:round/>
            <a:headEnd len="med" w="med" type="none"/>
            <a:tailEnd len="med" w="med" type="none"/>
          </a:ln>
        </p:spPr>
      </p:cxnSp>
      <p:cxnSp>
        <p:nvCxnSpPr>
          <p:cNvPr id="126" name="Google Shape;126;g3d75af9e5a4_2_2"/>
          <p:cNvCxnSpPr/>
          <p:nvPr/>
        </p:nvCxnSpPr>
        <p:spPr>
          <a:xfrm rot="10800000">
            <a:off x="7926821" y="4292117"/>
            <a:ext cx="573600" cy="13200"/>
          </a:xfrm>
          <a:prstGeom prst="straightConnector1">
            <a:avLst/>
          </a:prstGeom>
          <a:noFill/>
          <a:ln cap="flat" cmpd="sng" w="10675">
            <a:solidFill>
              <a:schemeClr val="dk2"/>
            </a:solidFill>
            <a:prstDash val="solid"/>
            <a:round/>
            <a:headEnd len="med" w="med" type="none"/>
            <a:tailEnd len="med" w="med" type="none"/>
          </a:ln>
        </p:spPr>
      </p:cxnSp>
      <p:cxnSp>
        <p:nvCxnSpPr>
          <p:cNvPr id="127" name="Google Shape;127;g3d75af9e5a4_2_2"/>
          <p:cNvCxnSpPr/>
          <p:nvPr/>
        </p:nvCxnSpPr>
        <p:spPr>
          <a:xfrm rot="10800000">
            <a:off x="7943006" y="3596299"/>
            <a:ext cx="573600" cy="13200"/>
          </a:xfrm>
          <a:prstGeom prst="straightConnector1">
            <a:avLst/>
          </a:prstGeom>
          <a:noFill/>
          <a:ln cap="flat" cmpd="sng" w="10675">
            <a:solidFill>
              <a:schemeClr val="dk2"/>
            </a:solidFill>
            <a:prstDash val="solid"/>
            <a:round/>
            <a:headEnd len="med" w="med" type="none"/>
            <a:tailEnd len="med" w="med" type="none"/>
          </a:ln>
        </p:spPr>
      </p:cxnSp>
      <p:cxnSp>
        <p:nvCxnSpPr>
          <p:cNvPr id="128" name="Google Shape;128;g3d75af9e5a4_2_2"/>
          <p:cNvCxnSpPr>
            <a:endCxn id="110" idx="3"/>
          </p:cNvCxnSpPr>
          <p:nvPr/>
        </p:nvCxnSpPr>
        <p:spPr>
          <a:xfrm flipH="1">
            <a:off x="7943144" y="2991616"/>
            <a:ext cx="566100" cy="5100"/>
          </a:xfrm>
          <a:prstGeom prst="straightConnector1">
            <a:avLst/>
          </a:prstGeom>
          <a:noFill/>
          <a:ln cap="flat" cmpd="sng" w="10675">
            <a:solidFill>
              <a:schemeClr val="dk2"/>
            </a:solidFill>
            <a:prstDash val="solid"/>
            <a:round/>
            <a:headEnd len="med" w="med" type="none"/>
            <a:tailEnd len="med" w="med" type="none"/>
          </a:ln>
        </p:spPr>
      </p:cxnSp>
      <p:cxnSp>
        <p:nvCxnSpPr>
          <p:cNvPr id="129" name="Google Shape;129;g3d75af9e5a4_2_2"/>
          <p:cNvCxnSpPr>
            <a:endCxn id="106" idx="3"/>
          </p:cNvCxnSpPr>
          <p:nvPr/>
        </p:nvCxnSpPr>
        <p:spPr>
          <a:xfrm rot="10800000">
            <a:off x="7918110" y="5031976"/>
            <a:ext cx="582300" cy="6300"/>
          </a:xfrm>
          <a:prstGeom prst="straightConnector1">
            <a:avLst/>
          </a:prstGeom>
          <a:noFill/>
          <a:ln cap="flat" cmpd="sng" w="10675">
            <a:solidFill>
              <a:schemeClr val="dk2"/>
            </a:solidFill>
            <a:prstDash val="solid"/>
            <a:round/>
            <a:headEnd len="med" w="med" type="none"/>
            <a:tailEnd len="med" w="med" type="none"/>
          </a:ln>
        </p:spPr>
      </p:cxnSp>
      <p:cxnSp>
        <p:nvCxnSpPr>
          <p:cNvPr id="130" name="Google Shape;130;g3d75af9e5a4_2_2"/>
          <p:cNvCxnSpPr/>
          <p:nvPr/>
        </p:nvCxnSpPr>
        <p:spPr>
          <a:xfrm>
            <a:off x="5223481" y="700384"/>
            <a:ext cx="5093400" cy="600"/>
          </a:xfrm>
          <a:prstGeom prst="straightConnector1">
            <a:avLst/>
          </a:prstGeom>
          <a:noFill/>
          <a:ln cap="flat" cmpd="sng" w="10675">
            <a:solidFill>
              <a:schemeClr val="dk2"/>
            </a:solidFill>
            <a:prstDash val="solid"/>
            <a:round/>
            <a:headEnd len="med" w="med" type="none"/>
            <a:tailEnd len="med" w="med" type="none"/>
          </a:ln>
        </p:spPr>
      </p:cxnSp>
      <p:cxnSp>
        <p:nvCxnSpPr>
          <p:cNvPr id="131" name="Google Shape;131;g3d75af9e5a4_2_2"/>
          <p:cNvCxnSpPr/>
          <p:nvPr/>
        </p:nvCxnSpPr>
        <p:spPr>
          <a:xfrm>
            <a:off x="10286539" y="699600"/>
            <a:ext cx="39900" cy="2919900"/>
          </a:xfrm>
          <a:prstGeom prst="straightConnector1">
            <a:avLst/>
          </a:prstGeom>
          <a:noFill/>
          <a:ln cap="flat" cmpd="sng" w="10675">
            <a:solidFill>
              <a:schemeClr val="dk2"/>
            </a:solidFill>
            <a:prstDash val="solid"/>
            <a:round/>
            <a:headEnd len="med" w="med" type="none"/>
            <a:tailEnd len="med" w="med" type="none"/>
          </a:ln>
        </p:spPr>
      </p:cxnSp>
      <p:cxnSp>
        <p:nvCxnSpPr>
          <p:cNvPr id="132" name="Google Shape;132;g3d75af9e5a4_2_2"/>
          <p:cNvCxnSpPr/>
          <p:nvPr/>
        </p:nvCxnSpPr>
        <p:spPr>
          <a:xfrm>
            <a:off x="8519785" y="3605578"/>
            <a:ext cx="1802100" cy="17100"/>
          </a:xfrm>
          <a:prstGeom prst="straightConnector1">
            <a:avLst/>
          </a:prstGeom>
          <a:noFill/>
          <a:ln cap="flat" cmpd="sng" w="10675">
            <a:solidFill>
              <a:schemeClr val="dk2"/>
            </a:solidFill>
            <a:prstDash val="solid"/>
            <a:round/>
            <a:headEnd len="med" w="med" type="none"/>
            <a:tailEnd len="med" w="med" type="none"/>
          </a:ln>
        </p:spPr>
      </p:cxnSp>
      <p:cxnSp>
        <p:nvCxnSpPr>
          <p:cNvPr id="133" name="Google Shape;133;g3d75af9e5a4_2_2"/>
          <p:cNvCxnSpPr/>
          <p:nvPr/>
        </p:nvCxnSpPr>
        <p:spPr>
          <a:xfrm>
            <a:off x="10306952" y="2072700"/>
            <a:ext cx="964800" cy="0"/>
          </a:xfrm>
          <a:prstGeom prst="straightConnector1">
            <a:avLst/>
          </a:prstGeom>
          <a:noFill/>
          <a:ln cap="flat" cmpd="sng" w="1067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d75af9e5a4_3_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Plan to Proceed Pt.1</a:t>
            </a:r>
            <a:endParaRPr/>
          </a:p>
        </p:txBody>
      </p:sp>
      <p:sp>
        <p:nvSpPr>
          <p:cNvPr id="139" name="Google Shape;139;g3d75af9e5a4_3_30"/>
          <p:cNvSpPr txBox="1"/>
          <p:nvPr/>
        </p:nvSpPr>
        <p:spPr>
          <a:xfrm>
            <a:off x="0" y="1690825"/>
            <a:ext cx="12192000" cy="42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800">
                <a:solidFill>
                  <a:schemeClr val="dk1"/>
                </a:solidFill>
                <a:latin typeface="Times New Roman"/>
                <a:ea typeface="Times New Roman"/>
                <a:cs typeface="Times New Roman"/>
                <a:sym typeface="Times New Roman"/>
              </a:rPr>
              <a:t>Reliability Analysis </a:t>
            </a:r>
            <a:r>
              <a:rPr lang="en-US" sz="1800">
                <a:solidFill>
                  <a:schemeClr val="dk1"/>
                </a:solidFill>
                <a:latin typeface="Times New Roman"/>
                <a:ea typeface="Times New Roman"/>
                <a:cs typeface="Times New Roman"/>
                <a:sym typeface="Times New Roman"/>
              </a:rPr>
              <a:t>uses the systems diagram to define the structure function </a:t>
            </a:r>
            <a:r>
              <a:rPr i="1" lang="en-US" sz="1800">
                <a:solidFill>
                  <a:schemeClr val="dk1"/>
                </a:solidFill>
                <a:latin typeface="Times New Roman"/>
                <a:ea typeface="Times New Roman"/>
                <a:cs typeface="Times New Roman"/>
                <a:sym typeface="Times New Roman"/>
              </a:rPr>
              <a:t>φ(x)</a:t>
            </a:r>
            <a:r>
              <a:rPr lang="en-US" sz="1800">
                <a:solidFill>
                  <a:schemeClr val="dk1"/>
                </a:solidFill>
                <a:latin typeface="Times New Roman"/>
                <a:ea typeface="Times New Roman"/>
                <a:cs typeface="Times New Roman"/>
                <a:sym typeface="Times New Roman"/>
              </a:rPr>
              <a:t>. Start by assigning a variable to each component in the system, then identify the state of the system based on how those components interact in the diagram. Once the structure is clear, the reliability can be interpreted through </a:t>
            </a:r>
            <a:r>
              <a:rPr i="1" lang="en-US" sz="1800">
                <a:solidFill>
                  <a:schemeClr val="dk1"/>
                </a:solidFill>
                <a:latin typeface="Times New Roman"/>
                <a:ea typeface="Times New Roman"/>
                <a:cs typeface="Times New Roman"/>
                <a:sym typeface="Times New Roman"/>
              </a:rPr>
              <a:t>P(φ(x)=1) = E[φ(x)]</a:t>
            </a:r>
            <a:r>
              <a:rPr lang="en-US" sz="1800">
                <a:solidFill>
                  <a:schemeClr val="dk1"/>
                </a:solidFill>
                <a:latin typeface="Times New Roman"/>
                <a:ea typeface="Times New Roman"/>
                <a:cs typeface="Times New Roman"/>
                <a:sym typeface="Times New Roman"/>
              </a:rPr>
              <a:t>, which connects the system state to the probability that the system is functioning in the way being analyzed.</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b="1" lang="en-US" sz="1800">
                <a:solidFill>
                  <a:schemeClr val="dk1"/>
                </a:solidFill>
                <a:latin typeface="Times New Roman"/>
                <a:ea typeface="Times New Roman"/>
                <a:cs typeface="Times New Roman"/>
                <a:sym typeface="Times New Roman"/>
              </a:rPr>
              <a:t>For the risk part, </a:t>
            </a:r>
            <a:r>
              <a:rPr lang="en-US" sz="1800">
                <a:solidFill>
                  <a:schemeClr val="dk1"/>
                </a:solidFill>
                <a:latin typeface="Times New Roman"/>
                <a:ea typeface="Times New Roman"/>
                <a:cs typeface="Times New Roman"/>
                <a:sym typeface="Times New Roman"/>
              </a:rPr>
              <a:t>follow the diagram directly and translate each branch into probabilities. For the wake vortex branch, the events are connected by AND conditions, so the probability is built by multiplying the probability of a dangerous wake, the probability of separation violation, and the probability of detection failure. Inside the separation violation branch, the ATC part is an OR condition, so those probabilities are combined first before being used in the larger wake vortex calculation. The same idea applies to the other contributing paths in that branch.</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1000"/>
              </a:spcAft>
              <a:buNone/>
            </a:pPr>
            <a:r>
              <a:rPr b="1" lang="en-US" sz="1800">
                <a:solidFill>
                  <a:schemeClr val="dk1"/>
                </a:solidFill>
                <a:latin typeface="Times New Roman"/>
                <a:ea typeface="Times New Roman"/>
                <a:cs typeface="Times New Roman"/>
                <a:sym typeface="Times New Roman"/>
              </a:rPr>
              <a:t>The simultaneous runway occupancy branch </a:t>
            </a:r>
            <a:r>
              <a:rPr lang="en-US" sz="1800">
                <a:solidFill>
                  <a:schemeClr val="dk1"/>
                </a:solidFill>
                <a:latin typeface="Times New Roman"/>
                <a:ea typeface="Times New Roman"/>
                <a:cs typeface="Times New Roman"/>
                <a:sym typeface="Times New Roman"/>
              </a:rPr>
              <a:t>is more straightforward. It is based on the probability that the lead aircraft fails to vacate the runway and the probability that the trailing aircraft cannot execute a go-around. After those pieces are found, multiply them to get the runway occupancy risk.</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d75af9e5a4_3_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Plan to Proceed Pt 2</a:t>
            </a:r>
            <a:endParaRPr/>
          </a:p>
        </p:txBody>
      </p:sp>
      <p:sp>
        <p:nvSpPr>
          <p:cNvPr id="145" name="Google Shape;145;g3d75af9e5a4_3_37"/>
          <p:cNvSpPr txBox="1"/>
          <p:nvPr/>
        </p:nvSpPr>
        <p:spPr>
          <a:xfrm>
            <a:off x="0" y="1690825"/>
            <a:ext cx="12192000" cy="467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800">
                <a:solidFill>
                  <a:schemeClr val="dk1"/>
                </a:solidFill>
                <a:latin typeface="Times New Roman"/>
                <a:ea typeface="Times New Roman"/>
                <a:cs typeface="Times New Roman"/>
                <a:sym typeface="Times New Roman"/>
              </a:rPr>
              <a:t>Once both branches are complete, </a:t>
            </a:r>
            <a:r>
              <a:rPr lang="en-US" sz="1800">
                <a:solidFill>
                  <a:schemeClr val="dk1"/>
                </a:solidFill>
                <a:latin typeface="Times New Roman"/>
                <a:ea typeface="Times New Roman"/>
                <a:cs typeface="Times New Roman"/>
                <a:sym typeface="Times New Roman"/>
              </a:rPr>
              <a:t>the total accident risk can be approximated by adding the wake vortex probability and the simultaneous runway occupancy probability, since both events are rare and small. All calculations should be carried out separately for good weather and bad weather because several event probabilities depend on weather conditions.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b="1" lang="en-US" sz="1800">
                <a:solidFill>
                  <a:schemeClr val="dk1"/>
                </a:solidFill>
                <a:latin typeface="Times New Roman"/>
                <a:ea typeface="Times New Roman"/>
                <a:cs typeface="Times New Roman"/>
                <a:sym typeface="Times New Roman"/>
              </a:rPr>
              <a:t>For the wake vortex branch, </a:t>
            </a:r>
            <a:r>
              <a:rPr lang="en-US" sz="1800">
                <a:solidFill>
                  <a:schemeClr val="dk1"/>
                </a:solidFill>
                <a:latin typeface="Times New Roman"/>
                <a:ea typeface="Times New Roman"/>
                <a:cs typeface="Times New Roman"/>
                <a:sym typeface="Times New Roman"/>
              </a:rPr>
              <a:t>first determine the probability that a dangerous wake exists using the aircraft size mix and the wake vortex table. Then evaluate the probability of separation violation by considering ATC problems such as misidentification, weather misestimation, and late communication, as well as trailing aircraft issues like the pilot being unable to adjust speed and communicate promptly, and lead aircraft go-around events. After that, combine the dangerous wake term, the separation violation term, and detection failure to obtain the wake vortex risk.</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b="1" lang="en-US" sz="1800">
                <a:solidFill>
                  <a:schemeClr val="dk1"/>
                </a:solidFill>
                <a:latin typeface="Times New Roman"/>
                <a:ea typeface="Times New Roman"/>
                <a:cs typeface="Times New Roman"/>
                <a:sym typeface="Times New Roman"/>
              </a:rPr>
              <a:t>For simultaneous runway occupancy, </a:t>
            </a:r>
            <a:r>
              <a:rPr lang="en-US" sz="1800">
                <a:solidFill>
                  <a:schemeClr val="dk1"/>
                </a:solidFill>
                <a:latin typeface="Times New Roman"/>
                <a:ea typeface="Times New Roman"/>
                <a:cs typeface="Times New Roman"/>
                <a:sym typeface="Times New Roman"/>
              </a:rPr>
              <a:t>use the lead-aircraft failure events and the trailing-aircraft failure events from the table, combine the events within each group according to the system diagram, and then multiply the two sides together to obtain the branch risk.</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1000"/>
              </a:spcAft>
              <a:buNone/>
            </a:pPr>
            <a:r>
              <a:rPr b="1" lang="en-US" sz="1800">
                <a:solidFill>
                  <a:schemeClr val="dk1"/>
                </a:solidFill>
                <a:latin typeface="Times New Roman"/>
                <a:ea typeface="Times New Roman"/>
                <a:cs typeface="Times New Roman"/>
                <a:sym typeface="Times New Roman"/>
              </a:rPr>
              <a:t>After the good-weather and bad-weather risks are found, </a:t>
            </a:r>
            <a:r>
              <a:rPr lang="en-US" sz="1800">
                <a:solidFill>
                  <a:schemeClr val="dk1"/>
                </a:solidFill>
                <a:latin typeface="Times New Roman"/>
                <a:ea typeface="Times New Roman"/>
                <a:cs typeface="Times New Roman"/>
                <a:sym typeface="Times New Roman"/>
              </a:rPr>
              <a:t>combine them using the given weather proportions of 80% good weather and 20% bad weather. This gives the overall accident risk for Part 1.</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d75af9e5a4_3_5"/>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Problem 2</a:t>
            </a:r>
            <a:endParaRPr/>
          </a:p>
        </p:txBody>
      </p:sp>
      <p:sp>
        <p:nvSpPr>
          <p:cNvPr id="151" name="Google Shape;151;g3d75af9e5a4_3_5"/>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US" sz="2300">
                <a:solidFill>
                  <a:schemeClr val="dk1"/>
                </a:solidFill>
              </a:rPr>
              <a:t>Simulation of airport check-in and security lines</a:t>
            </a:r>
            <a:endParaRPr b="1" sz="2300">
              <a:solidFill>
                <a:schemeClr val="dk1"/>
              </a:solidFill>
            </a:endParaRPr>
          </a:p>
          <a:p>
            <a:pPr indent="0" lvl="0" marL="0" rtl="0" algn="l">
              <a:spcBef>
                <a:spcPts val="10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
          <p:cNvPicPr preferRelativeResize="0"/>
          <p:nvPr/>
        </p:nvPicPr>
        <p:blipFill rotWithShape="1">
          <a:blip r:embed="rId3">
            <a:alphaModFix/>
          </a:blip>
          <a:srcRect b="0" l="0" r="0" t="0"/>
          <a:stretch/>
        </p:blipFill>
        <p:spPr>
          <a:xfrm>
            <a:off x="4689009" y="1224642"/>
            <a:ext cx="2813981" cy="5633357"/>
          </a:xfrm>
          <a:prstGeom prst="rect">
            <a:avLst/>
          </a:prstGeom>
          <a:noFill/>
          <a:ln>
            <a:noFill/>
          </a:ln>
        </p:spPr>
      </p:pic>
      <p:sp>
        <p:nvSpPr>
          <p:cNvPr id="157" name="Google Shape;157;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Customer Flow Diagram</a:t>
            </a:r>
            <a:endParaRPr/>
          </a:p>
        </p:txBody>
      </p:sp>
      <p:sp>
        <p:nvSpPr>
          <p:cNvPr id="158" name="Google Shape;158;p2"/>
          <p:cNvSpPr txBox="1"/>
          <p:nvPr/>
        </p:nvSpPr>
        <p:spPr>
          <a:xfrm>
            <a:off x="2900425" y="2103575"/>
            <a:ext cx="1301700" cy="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1"/>
                </a:solidFill>
              </a:rPr>
              <a:t>S0 @ exp(10)</a:t>
            </a:r>
            <a:endParaRPr sz="900">
              <a:solidFill>
                <a:schemeClr val="dk1"/>
              </a:solidFill>
            </a:endParaRPr>
          </a:p>
        </p:txBody>
      </p:sp>
      <p:sp>
        <p:nvSpPr>
          <p:cNvPr id="159" name="Google Shape;159;p2"/>
          <p:cNvSpPr txBox="1"/>
          <p:nvPr/>
        </p:nvSpPr>
        <p:spPr>
          <a:xfrm>
            <a:off x="2800975" y="2885150"/>
            <a:ext cx="1500600" cy="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1"/>
                </a:solidFill>
              </a:rPr>
              <a:t>log(S1) </a:t>
            </a:r>
            <a:r>
              <a:rPr lang="en-US" sz="900">
                <a:solidFill>
                  <a:schemeClr val="dk1"/>
                </a:solidFill>
              </a:rPr>
              <a:t>@ N(0.1, 0.01)</a:t>
            </a:r>
            <a:endParaRPr sz="900">
              <a:solidFill>
                <a:schemeClr val="dk1"/>
              </a:solidFill>
            </a:endParaRPr>
          </a:p>
        </p:txBody>
      </p:sp>
      <p:sp>
        <p:nvSpPr>
          <p:cNvPr id="160" name="Google Shape;160;p2"/>
          <p:cNvSpPr txBox="1"/>
          <p:nvPr/>
        </p:nvSpPr>
        <p:spPr>
          <a:xfrm>
            <a:off x="2760450" y="3856975"/>
            <a:ext cx="1500600" cy="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1"/>
                </a:solidFill>
              </a:rPr>
              <a:t>S2 @ Positive(N(6, 1))</a:t>
            </a:r>
            <a:endParaRPr sz="900">
              <a:solidFill>
                <a:schemeClr val="dk1"/>
              </a:solidFill>
            </a:endParaRPr>
          </a:p>
        </p:txBody>
      </p:sp>
      <p:sp>
        <p:nvSpPr>
          <p:cNvPr id="161" name="Google Shape;161;p2"/>
          <p:cNvSpPr txBox="1"/>
          <p:nvPr/>
        </p:nvSpPr>
        <p:spPr>
          <a:xfrm>
            <a:off x="2859900" y="5512075"/>
            <a:ext cx="1301700" cy="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1"/>
                </a:solidFill>
              </a:rPr>
              <a:t>S3 @ exp(2)</a:t>
            </a:r>
            <a:endParaRPr sz="900">
              <a:solidFill>
                <a:schemeClr val="dk1"/>
              </a:solidFill>
            </a:endParaRPr>
          </a:p>
        </p:txBody>
      </p:sp>
      <p:sp>
        <p:nvSpPr>
          <p:cNvPr id="162" name="Google Shape;162;p2"/>
          <p:cNvSpPr/>
          <p:nvPr/>
        </p:nvSpPr>
        <p:spPr>
          <a:xfrm>
            <a:off x="3818925" y="2276875"/>
            <a:ext cx="1443900" cy="18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
          <p:cNvSpPr/>
          <p:nvPr/>
        </p:nvSpPr>
        <p:spPr>
          <a:xfrm>
            <a:off x="4089850" y="3054750"/>
            <a:ext cx="1084500" cy="30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2"/>
          <p:cNvSpPr/>
          <p:nvPr/>
        </p:nvSpPr>
        <p:spPr>
          <a:xfrm>
            <a:off x="4065250" y="4012150"/>
            <a:ext cx="1104300" cy="39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
          <p:cNvSpPr/>
          <p:nvPr/>
        </p:nvSpPr>
        <p:spPr>
          <a:xfrm>
            <a:off x="3782550" y="5687125"/>
            <a:ext cx="1331100" cy="30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State Variables</a:t>
            </a:r>
            <a:endParaRPr/>
          </a:p>
        </p:txBody>
      </p:sp>
      <p:sp>
        <p:nvSpPr>
          <p:cNvPr id="171" name="Google Shape;171;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rPr lang="en-US"/>
              <a:t>State variables at time t </a:t>
            </a:r>
            <a:endParaRPr/>
          </a:p>
          <a:p>
            <a:pPr indent="-228600" lvl="0" marL="228600" rtl="0" algn="l">
              <a:lnSpc>
                <a:spcPct val="90000"/>
              </a:lnSpc>
              <a:spcBef>
                <a:spcPts val="1000"/>
              </a:spcBef>
              <a:spcAft>
                <a:spcPts val="0"/>
              </a:spcAft>
              <a:buClr>
                <a:schemeClr val="dk1"/>
              </a:buClr>
              <a:buSzPct val="100000"/>
              <a:buChar char="•"/>
            </a:pPr>
            <a:r>
              <a:rPr lang="en-US"/>
              <a:t>Nq : Number of people in checkin system</a:t>
            </a:r>
            <a:endParaRPr/>
          </a:p>
          <a:p>
            <a:pPr indent="-228600" lvl="0" marL="228600" rtl="0" algn="l">
              <a:lnSpc>
                <a:spcPct val="90000"/>
              </a:lnSpc>
              <a:spcBef>
                <a:spcPts val="1000"/>
              </a:spcBef>
              <a:spcAft>
                <a:spcPts val="0"/>
              </a:spcAft>
              <a:buClr>
                <a:schemeClr val="dk1"/>
              </a:buClr>
              <a:buSzPct val="100000"/>
              <a:buChar char="•"/>
            </a:pPr>
            <a:r>
              <a:rPr lang="en-US"/>
              <a:t>Sq: Number of free servers for checkin system</a:t>
            </a:r>
            <a:endParaRPr/>
          </a:p>
          <a:p>
            <a:pPr indent="-228600" lvl="0" marL="228600" rtl="0" algn="l">
              <a:lnSpc>
                <a:spcPct val="90000"/>
              </a:lnSpc>
              <a:spcBef>
                <a:spcPts val="1000"/>
              </a:spcBef>
              <a:spcAft>
                <a:spcPts val="0"/>
              </a:spcAft>
              <a:buClr>
                <a:schemeClr val="dk1"/>
              </a:buClr>
              <a:buSzPct val="100000"/>
              <a:buChar char="•"/>
            </a:pPr>
            <a:r>
              <a:rPr lang="en-US"/>
              <a:t>Nc : Number of people in commute to security system</a:t>
            </a:r>
            <a:endParaRPr/>
          </a:p>
          <a:p>
            <a:pPr indent="-228600" lvl="0" marL="228600" rtl="0" algn="l">
              <a:lnSpc>
                <a:spcPct val="90000"/>
              </a:lnSpc>
              <a:spcBef>
                <a:spcPts val="1000"/>
              </a:spcBef>
              <a:spcAft>
                <a:spcPts val="0"/>
              </a:spcAft>
              <a:buClr>
                <a:schemeClr val="dk1"/>
              </a:buClr>
              <a:buSzPct val="100000"/>
              <a:buChar char="•"/>
            </a:pPr>
            <a:r>
              <a:rPr lang="en-US"/>
              <a:t>Ns: Number of people in security system</a:t>
            </a:r>
            <a:endParaRPr/>
          </a:p>
          <a:p>
            <a:pPr indent="-228600" lvl="0" marL="228600" rtl="0" algn="l">
              <a:lnSpc>
                <a:spcPct val="90000"/>
              </a:lnSpc>
              <a:spcBef>
                <a:spcPts val="1000"/>
              </a:spcBef>
              <a:spcAft>
                <a:spcPts val="0"/>
              </a:spcAft>
              <a:buClr>
                <a:schemeClr val="dk1"/>
              </a:buClr>
              <a:buSzPct val="100000"/>
              <a:buChar char="•"/>
            </a:pPr>
            <a:r>
              <a:rPr lang="en-US"/>
              <a:t>Ss : Number of free server in security system</a:t>
            </a:r>
            <a:endParaRPr/>
          </a:p>
          <a:p>
            <a:pPr indent="0" lvl="0" marL="0" rtl="0" algn="l">
              <a:lnSpc>
                <a:spcPct val="90000"/>
              </a:lnSpc>
              <a:spcBef>
                <a:spcPts val="1000"/>
              </a:spcBef>
              <a:spcAft>
                <a:spcPts val="0"/>
              </a:spcAft>
              <a:buClr>
                <a:schemeClr val="dk1"/>
              </a:buClr>
              <a:buSzPct val="100000"/>
              <a:buNone/>
            </a:pPr>
            <a:r>
              <a:rPr lang="en-US"/>
              <a:t>These 5 variables can be used to completely describe initial system(with fixed n1 and n3)</a:t>
            </a:r>
            <a:endParaRPr/>
          </a:p>
          <a:p>
            <a:pPr indent="0" lvl="0" marL="0" rtl="0" algn="l">
              <a:lnSpc>
                <a:spcPct val="90000"/>
              </a:lnSpc>
              <a:spcBef>
                <a:spcPts val="1000"/>
              </a:spcBef>
              <a:spcAft>
                <a:spcPts val="0"/>
              </a:spcAft>
              <a:buClr>
                <a:schemeClr val="dk1"/>
              </a:buClr>
              <a:buSzPct val="100000"/>
              <a:buNone/>
            </a:pPr>
            <a:r>
              <a:rPr lang="en-US"/>
              <a:t>Additionally, following variables required to measure performance across time horizon 3600 min (1day)</a:t>
            </a:r>
            <a:endParaRPr/>
          </a:p>
          <a:p>
            <a:pPr indent="-228600" lvl="0" marL="228600" rtl="0" algn="l">
              <a:lnSpc>
                <a:spcPct val="90000"/>
              </a:lnSpc>
              <a:spcBef>
                <a:spcPts val="1000"/>
              </a:spcBef>
              <a:spcAft>
                <a:spcPts val="0"/>
              </a:spcAft>
              <a:buClr>
                <a:schemeClr val="dk1"/>
              </a:buClr>
              <a:buSzPct val="100000"/>
              <a:buChar char="•"/>
            </a:pPr>
            <a:r>
              <a:rPr lang="en-US"/>
              <a:t>Narr: Number of people arrived in preboarding system</a:t>
            </a:r>
            <a:endParaRPr/>
          </a:p>
          <a:p>
            <a:pPr indent="-228600" lvl="0" marL="228600" rtl="0" algn="l">
              <a:lnSpc>
                <a:spcPct val="90000"/>
              </a:lnSpc>
              <a:spcBef>
                <a:spcPts val="1000"/>
              </a:spcBef>
              <a:spcAft>
                <a:spcPts val="0"/>
              </a:spcAft>
              <a:buClr>
                <a:schemeClr val="dk1"/>
              </a:buClr>
              <a:buSzPct val="100000"/>
              <a:buChar char="•"/>
            </a:pPr>
            <a:r>
              <a:rPr lang="en-US"/>
              <a:t>Ndep: Number of people departed from pre boarding system</a:t>
            </a:r>
            <a:endParaRPr/>
          </a:p>
          <a:p>
            <a:pPr indent="-228600" lvl="0" marL="228600" rtl="0" algn="l">
              <a:lnSpc>
                <a:spcPct val="90000"/>
              </a:lnSpc>
              <a:spcBef>
                <a:spcPts val="1000"/>
              </a:spcBef>
              <a:spcAft>
                <a:spcPts val="0"/>
              </a:spcAft>
              <a:buClr>
                <a:schemeClr val="dk1"/>
              </a:buClr>
              <a:buSzPct val="100000"/>
              <a:buChar char="•"/>
            </a:pPr>
            <a:r>
              <a:rPr lang="en-US"/>
              <a:t>o : System occupancy for given time, updated at each time step</a:t>
            </a:r>
            <a:endParaRPr/>
          </a:p>
          <a:p>
            <a:pPr indent="0" lvl="0" marL="0" rtl="0" algn="l">
              <a:lnSpc>
                <a:spcPct val="90000"/>
              </a:lnSpc>
              <a:spcBef>
                <a:spcPts val="1000"/>
              </a:spcBef>
              <a:spcAft>
                <a:spcPts val="0"/>
              </a:spcAft>
              <a:buClr>
                <a:schemeClr val="dk1"/>
              </a:buClr>
              <a:buSzPct val="100000"/>
              <a:buNone/>
            </a:pPr>
            <a:r>
              <a:rPr lang="en-US"/>
              <a:t>Additional variables required for optimization</a:t>
            </a:r>
            <a:endParaRPr/>
          </a:p>
          <a:p>
            <a:pPr indent="-228600" lvl="0" marL="228600" rtl="0" algn="l">
              <a:lnSpc>
                <a:spcPct val="90000"/>
              </a:lnSpc>
              <a:spcBef>
                <a:spcPts val="1000"/>
              </a:spcBef>
              <a:spcAft>
                <a:spcPts val="0"/>
              </a:spcAft>
              <a:buClr>
                <a:schemeClr val="dk1"/>
              </a:buClr>
              <a:buSzPct val="100000"/>
              <a:buChar char="•"/>
            </a:pPr>
            <a:r>
              <a:rPr lang="en-US"/>
              <a:t>n1  : Number of servers in checkin system (Not required for this problem)</a:t>
            </a:r>
            <a:endParaRPr/>
          </a:p>
          <a:p>
            <a:pPr indent="-228600" lvl="0" marL="228600" rtl="0" algn="l">
              <a:lnSpc>
                <a:spcPct val="90000"/>
              </a:lnSpc>
              <a:spcBef>
                <a:spcPts val="1000"/>
              </a:spcBef>
              <a:spcAft>
                <a:spcPts val="0"/>
              </a:spcAft>
              <a:buClr>
                <a:schemeClr val="dk1"/>
              </a:buClr>
              <a:buSzPct val="100000"/>
              <a:buChar char="•"/>
            </a:pPr>
            <a:r>
              <a:rPr lang="en-US"/>
              <a:t>n3 : Number of servers in security system</a:t>
            </a:r>
            <a:endParaRPr/>
          </a:p>
          <a:p>
            <a:pPr indent="-13081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Events</a:t>
            </a:r>
            <a:endParaRPr/>
          </a:p>
        </p:txBody>
      </p:sp>
      <p:sp>
        <p:nvSpPr>
          <p:cNvPr id="177" name="Google Shape;177;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Event AC : Arrival at the checkin system</a:t>
            </a:r>
            <a:endParaRPr/>
          </a:p>
          <a:p>
            <a:pPr indent="-228600" lvl="0" marL="228600" rtl="0" algn="l">
              <a:lnSpc>
                <a:spcPct val="90000"/>
              </a:lnSpc>
              <a:spcBef>
                <a:spcPts val="1000"/>
              </a:spcBef>
              <a:spcAft>
                <a:spcPts val="0"/>
              </a:spcAft>
              <a:buClr>
                <a:schemeClr val="dk1"/>
              </a:buClr>
              <a:buSzPts val="2800"/>
              <a:buChar char="•"/>
            </a:pPr>
            <a:r>
              <a:rPr lang="en-US"/>
              <a:t>Event DC : Departure from checkin system</a:t>
            </a:r>
            <a:endParaRPr/>
          </a:p>
          <a:p>
            <a:pPr indent="-228600" lvl="0" marL="228600" rtl="0" algn="l">
              <a:lnSpc>
                <a:spcPct val="90000"/>
              </a:lnSpc>
              <a:spcBef>
                <a:spcPts val="1000"/>
              </a:spcBef>
              <a:spcAft>
                <a:spcPts val="0"/>
              </a:spcAft>
              <a:buClr>
                <a:schemeClr val="dk1"/>
              </a:buClr>
              <a:buSzPts val="2800"/>
              <a:buChar char="•"/>
            </a:pPr>
            <a:r>
              <a:rPr lang="en-US"/>
              <a:t>Event AS : Arrival at security system</a:t>
            </a:r>
            <a:endParaRPr/>
          </a:p>
          <a:p>
            <a:pPr indent="-228600" lvl="0" marL="228600" rtl="0" algn="l">
              <a:lnSpc>
                <a:spcPct val="90000"/>
              </a:lnSpc>
              <a:spcBef>
                <a:spcPts val="1000"/>
              </a:spcBef>
              <a:spcAft>
                <a:spcPts val="0"/>
              </a:spcAft>
              <a:buClr>
                <a:schemeClr val="dk1"/>
              </a:buClr>
              <a:buSzPts val="2800"/>
              <a:buChar char="•"/>
            </a:pPr>
            <a:r>
              <a:rPr lang="en-US"/>
              <a:t>Event DS : Departure from security system</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Performance calculation</a:t>
            </a:r>
            <a:endParaRPr/>
          </a:p>
        </p:txBody>
      </p:sp>
      <p:sp>
        <p:nvSpPr>
          <p:cNvPr id="183" name="Google Shape;183;p4"/>
          <p:cNvSpPr txBox="1"/>
          <p:nvPr>
            <p:ph idx="1" type="body"/>
          </p:nvPr>
        </p:nvSpPr>
        <p:spPr>
          <a:xfrm>
            <a:off x="885500" y="1589200"/>
            <a:ext cx="10187100" cy="37692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a:t>-</a:t>
            </a:r>
            <a:endParaRPr/>
          </a:p>
        </p:txBody>
      </p:sp>
      <p:sp>
        <p:nvSpPr>
          <p:cNvPr id="184" name="Google Shape;184;p4"/>
          <p:cNvSpPr txBox="1"/>
          <p:nvPr/>
        </p:nvSpPr>
        <p:spPr>
          <a:xfrm>
            <a:off x="978175" y="3574925"/>
            <a:ext cx="10187100" cy="19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rPr>
              <a:t>Where,</a:t>
            </a:r>
            <a:endParaRPr sz="2100">
              <a:solidFill>
                <a:schemeClr val="dk1"/>
              </a:solidFill>
            </a:endParaRPr>
          </a:p>
          <a:p>
            <a:pPr indent="0" lvl="0" marL="0" rtl="0" algn="l">
              <a:spcBef>
                <a:spcPts val="0"/>
              </a:spcBef>
              <a:spcAft>
                <a:spcPts val="0"/>
              </a:spcAft>
              <a:buNone/>
            </a:pPr>
            <a:r>
              <a:rPr lang="en-US" sz="2100">
                <a:solidFill>
                  <a:schemeClr val="dk1"/>
                </a:solidFill>
              </a:rPr>
              <a:t>L : Average number of people in system</a:t>
            </a:r>
            <a:br>
              <a:rPr lang="en-US" sz="2100">
                <a:solidFill>
                  <a:schemeClr val="dk1"/>
                </a:solidFill>
              </a:rPr>
            </a:br>
            <a:r>
              <a:rPr lang="en-US" sz="2100">
                <a:solidFill>
                  <a:schemeClr val="dk1"/>
                </a:solidFill>
              </a:rPr>
              <a:t>W: Average waiting time</a:t>
            </a:r>
            <a:endParaRPr sz="2100">
              <a:solidFill>
                <a:schemeClr val="dk1"/>
              </a:solidFill>
            </a:endParaRPr>
          </a:p>
          <a:p>
            <a:pPr indent="0" lvl="0" marL="0" rtl="0" algn="l">
              <a:spcBef>
                <a:spcPts val="0"/>
              </a:spcBef>
              <a:spcAft>
                <a:spcPts val="0"/>
              </a:spcAft>
              <a:buNone/>
            </a:pPr>
            <a:r>
              <a:rPr lang="en-US" sz="2100">
                <a:solidFill>
                  <a:schemeClr val="dk1"/>
                </a:solidFill>
              </a:rPr>
              <a:t>S : Average number of </a:t>
            </a:r>
            <a:r>
              <a:rPr lang="en-US" sz="2100">
                <a:solidFill>
                  <a:schemeClr val="dk1"/>
                </a:solidFill>
              </a:rPr>
              <a:t>people</a:t>
            </a:r>
            <a:r>
              <a:rPr lang="en-US" sz="2100">
                <a:solidFill>
                  <a:schemeClr val="dk1"/>
                </a:solidFill>
              </a:rPr>
              <a:t> completed pre boarding</a:t>
            </a:r>
            <a:endParaRPr sz="2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2026-04-03T23:57:11Z</dcterms:created>
  <dc:creator>Janhavi Satyawan Gaikwad</dc:creator>
</cp:coreProperties>
</file>