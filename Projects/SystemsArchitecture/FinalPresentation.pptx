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fSA1RE92E9yneWgR/ZUintPB/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D1C854-49F7-485F-8E80-18D8214B3BBF}">
  <a:tblStyle styleId="{67D1C854-49F7-485F-8E80-18D8214B3BB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B284BB9-013C-4832-BC90-2244B0F7EED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aleway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Operating Cost: Market is sensitive to how much money required to perate an aircraft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Certification schedule : Time to </a:t>
            </a:r>
            <a:r>
              <a:rPr lang="en" sz="1200">
                <a:solidFill>
                  <a:schemeClr val="dk1"/>
                </a:solidFill>
              </a:rPr>
              <a:t>development</a:t>
            </a:r>
            <a:r>
              <a:rPr lang="en" sz="1200">
                <a:solidFill>
                  <a:schemeClr val="dk1"/>
                </a:solidFill>
              </a:rPr>
              <a:t> is mostly driven by the certification schedule for new tech like electric engines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Propulsion reliability : </a:t>
            </a:r>
            <a:r>
              <a:rPr lang="en" sz="1200">
                <a:solidFill>
                  <a:schemeClr val="dk1"/>
                </a:solidFill>
              </a:rPr>
              <a:t>Essential</a:t>
            </a:r>
            <a:r>
              <a:rPr lang="en" sz="1200">
                <a:solidFill>
                  <a:schemeClr val="dk1"/>
                </a:solidFill>
              </a:rPr>
              <a:t> due to aircraft reliability is heavily influenced by propulsive components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System durability L assess the lifetime of the aircraft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48" name="Google Shape;248;p1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slide shows NSGA based genetic algorithm used for </a:t>
            </a:r>
            <a:r>
              <a:rPr lang="en"/>
              <a:t>selecting</a:t>
            </a:r>
            <a:r>
              <a:rPr lang="en"/>
              <a:t> best architecture from 184000 feasible architecture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Architecture 8 </a:t>
            </a:r>
            <a:r>
              <a:rPr lang="en"/>
              <a:t>decision</a:t>
            </a:r>
            <a:r>
              <a:rPr lang="en"/>
              <a:t> is converted into 26 bit chromosome which </a:t>
            </a:r>
            <a:r>
              <a:rPr lang="en"/>
              <a:t>allowed</a:t>
            </a:r>
            <a:r>
              <a:rPr lang="en"/>
              <a:t> GA to explore tradespace through repair crossover mutation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Optimization reduce cost time while increasing </a:t>
            </a:r>
            <a:r>
              <a:rPr lang="en"/>
              <a:t>reliability</a:t>
            </a:r>
            <a:r>
              <a:rPr lang="en"/>
              <a:t> durability creating balanced tradeoff</a:t>
            </a:r>
            <a:br>
              <a:rPr lang="en"/>
            </a:br>
            <a:r>
              <a:rPr lang="en"/>
              <a:t>Constraint handling done via repairing chromosome..which is also a </a:t>
            </a:r>
            <a:r>
              <a:rPr lang="en"/>
              <a:t>reason</a:t>
            </a:r>
            <a:r>
              <a:rPr lang="en"/>
              <a:t> that algorithm converges withing 20 iterations</a:t>
            </a:r>
            <a:endParaRPr/>
          </a:p>
        </p:txBody>
      </p:sp>
      <p:sp>
        <p:nvSpPr>
          <p:cNvPr id="270" name="Google Shape;27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 can observe here that for all top architecture metrics are almost same even if decision vector is different. I.e same </a:t>
            </a:r>
            <a:r>
              <a:rPr lang="en"/>
              <a:t>metrics</a:t>
            </a:r>
            <a:r>
              <a:rPr lang="en"/>
              <a:t> are achieved via different combinations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It also indicate presence of simplified cost modeling, and deterministic </a:t>
            </a:r>
            <a:r>
              <a:rPr lang="en"/>
              <a:t>reliability</a:t>
            </a:r>
            <a:r>
              <a:rPr lang="en"/>
              <a:t> and schedule modeling</a:t>
            </a:r>
            <a:endParaRPr/>
          </a:p>
        </p:txBody>
      </p:sp>
      <p:sp>
        <p:nvSpPr>
          <p:cNvPr id="338" name="Google Shape;33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5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16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8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8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20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2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2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2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2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3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3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3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3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3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1B2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5806440" y="0"/>
            <a:ext cx="64008" cy="514350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57200" y="4114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SYSEN 5400|Spring 2026|Cornell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57200" y="9601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Generation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57200" y="153619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 Aviation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57200" y="2112264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Aircraft System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57200" y="301752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 Resilience-First Systems Engineering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to Hybrid-Electric GA Aircraft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Team  Members |Anurag Yadav (ay468) | Janhavi Gaikwad (jg2569)|Kris Singh(as4499)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989320" y="1463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184,212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989320" y="2212848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Architectures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Explored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629400" y="2926080"/>
            <a:ext cx="1463040" cy="457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989320" y="309067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Full Factorial Enumeration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1B2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65760" y="36576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 &amp;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19202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65760" y="2212848"/>
            <a:ext cx="32004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Hybrid-electric propulsion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Redundancy &amp; fault-tolerance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flight-envelope protection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Modular multi-mission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23 certification compatibility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60" y="37490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4041648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Detailed aerodynamics &amp; CFD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Structural sizing &amp; FEA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Component-level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977640" y="3200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Objectives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977640" y="96012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709160" y="97840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Reliability and Survivability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709160" y="13075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Reduce single-point failure exposure in propulsion and flight control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977640" y="196596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709160" y="198424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 Operating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709160" y="231343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Target ≤$250/hr through hybrid efficiency and lower maintenance burden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977640" y="297180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709160" y="299008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Cut Carbon Emissions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709160" y="331927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Hybrid-electric architecture targeting ≥20% fuel savings vs.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977640" y="397764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709160" y="399592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Remain Certifiable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709160" y="432511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All architectures evaluated within FAA Part 23 requirements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Reference Architectures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b="0" i="1" lang="en" sz="125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Three anchors spanning the full GA design space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0040" y="123444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20040" y="1234440"/>
            <a:ext cx="2651760" cy="5029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11480" y="12618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 — Baseline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11480" y="14630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Cessna 172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11480" y="1828800"/>
            <a:ext cx="2468880" cy="24688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29768" y="18379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1" lang="en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Conventional Single-Engine Piston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29768" y="2176272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Mature, certifiable baseline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Single-point propulsion failure risk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 flight envelope protection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Benchmark for cost &amp; simplicity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0" y="123444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0" y="1234440"/>
            <a:ext cx="2651760" cy="50292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291840" y="12618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RA2 — Industry Standard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291840" y="14630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Cirrus SR Series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291840" y="1828800"/>
            <a:ext cx="2468880" cy="24688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310128" y="18379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50"/>
              <a:buFont typeface="Calibri"/>
              <a:buNone/>
            </a:pPr>
            <a:r>
              <a:rPr b="1" i="1" lang="en" sz="85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Modern Composite + CAPS Recovery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310128" y="2176272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Ballistic parachute recovery system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Improved passive safety margin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Composite airframe construction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Current industry benchmark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080760" y="123444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080760" y="1234440"/>
            <a:ext cx="2651760" cy="50292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172200" y="12618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RA3 — Upper Bound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172200" y="14630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NASA X-57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172200" y="1828800"/>
            <a:ext cx="2468880" cy="24688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F0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190488" y="18379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1" lang="en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Distributed Electric Propulsion Demo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190488" y="2176272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Distributed motor architecture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Highest fault-tolerance potential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Emerging TRL — not yet certifiable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Sets redundancy design ceiling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5"/>
          <p:cNvCxnSpPr/>
          <p:nvPr/>
        </p:nvCxnSpPr>
        <p:spPr>
          <a:xfrm>
            <a:off x="548640" y="4892040"/>
            <a:ext cx="8046720" cy="0"/>
          </a:xfrm>
          <a:prstGeom prst="straightConnector1">
            <a:avLst/>
          </a:prstGeom>
          <a:noFill/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5"/>
          <p:cNvSpPr/>
          <p:nvPr/>
        </p:nvSpPr>
        <p:spPr>
          <a:xfrm>
            <a:off x="320040" y="491032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← Mature &amp; Certifiable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943600" y="49103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Experimental &amp; Innovative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Stakeholder Value Network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48640" y="13075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7"/>
          <p:cNvCxnSpPr/>
          <p:nvPr/>
        </p:nvCxnSpPr>
        <p:spPr>
          <a:xfrm>
            <a:off x="5349240" y="132588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7"/>
          <p:cNvSpPr/>
          <p:nvPr/>
        </p:nvSpPr>
        <p:spPr>
          <a:xfrm>
            <a:off x="548640" y="25420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554480" y="2514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554480" y="28529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7"/>
          <p:cNvCxnSpPr/>
          <p:nvPr/>
        </p:nvCxnSpPr>
        <p:spPr>
          <a:xfrm>
            <a:off x="5349240" y="256032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7"/>
          <p:cNvSpPr/>
          <p:nvPr/>
        </p:nvSpPr>
        <p:spPr>
          <a:xfrm>
            <a:off x="5486400" y="251460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48640" y="37764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48640" y="40233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554480" y="37490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554480" y="40873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7"/>
          <p:cNvCxnSpPr/>
          <p:nvPr/>
        </p:nvCxnSpPr>
        <p:spPr>
          <a:xfrm>
            <a:off x="5349240" y="379476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7"/>
          <p:cNvSpPr/>
          <p:nvPr/>
        </p:nvSpPr>
        <p:spPr>
          <a:xfrm>
            <a:off x="-2872719" y="217170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65760" y="4709160"/>
            <a:ext cx="8412480" cy="33832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" y="4736592"/>
            <a:ext cx="80467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The aircraft behaves as a socio-technical ecosystem, not an isolated engineering product.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781812"/>
            <a:ext cx="5905500" cy="368853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6400799" y="781814"/>
            <a:ext cx="2377439" cy="3715968"/>
          </a:xfrm>
          <a:prstGeom prst="rect">
            <a:avLst/>
          </a:prstGeom>
          <a:solidFill>
            <a:srgbClr val="1B26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SVN models how value, dependency, risk, and influence flow between the aircraft system and all connected stakeholders within the broader operational ecosystem.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1.Centralized hub-and-spoke ecosystem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CC2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2. Operator cluster drives network stability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CC2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3. Failures propagate beyond the aircraft itself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457200" y="220000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System Functional &amp; Physical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71000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Level 1 Functional and Physical Architecture represented, which are further decomposed in 22 and 18 Level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7200" y="1005000"/>
            <a:ext cx="2700000" cy="320000"/>
          </a:xfrm>
          <a:prstGeom prst="rect">
            <a:avLst/>
          </a:prstGeom>
          <a:solidFill>
            <a:srgbClr val="1C3D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200073" y="996250"/>
            <a:ext cx="2895600" cy="32000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SUBSYSTEMS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1385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F1  Generate &amp; Manage Propulsion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Hybrid powertrain, energy flow, redundancy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57200" y="1800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F2  Control Flight Path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Pilot inputs, fly-by-wire, envelope protection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7200" y="2215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F3  Monitor &amp; Ensure Safety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Fault detection, CAPS, emergency recovery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2630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F4  Manage Avionics &amp; Comms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Navigation, displays, autopilot, ATC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3045000"/>
            <a:ext cx="2700000" cy="37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F5  Support Cabin &amp; Payload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Cabin environment, modular payload bays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3460000"/>
            <a:ext cx="2700000" cy="430000"/>
          </a:xfrm>
          <a:prstGeom prst="rect">
            <a:avLst/>
          </a:prstGeom>
          <a:solidFill>
            <a:srgbClr val="D6E4F0"/>
          </a:solidFill>
          <a:ln cap="flat" cmpd="sng" w="18000">
            <a:solidFill>
              <a:srgbClr val="1C3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F6  Maintenance &amp; Health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200073" y="1362500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Propulsion System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Thermal engine, electric motors, gearbox, propeller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200073" y="1869609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Electrical &amp; Energy System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Battery packs, power electronics, PDU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200073" y="2375000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Flight &amp; Control System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FCC, actuators, avionics, control surfaces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200073" y="2898282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Safety &amp; Support System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Health monitoring, env. ctrl, backup power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200073" y="3441564"/>
            <a:ext cx="2895600" cy="440000"/>
          </a:xfrm>
          <a:prstGeom prst="rect">
            <a:avLst/>
          </a:prstGeom>
          <a:solidFill>
            <a:srgbClr val="D5EDE1"/>
          </a:solidFill>
          <a:ln cap="flat" cmpd="sng" w="18000">
            <a:solidFill>
              <a:srgbClr val="2E6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Airframe</a:t>
            </a:r>
            <a:b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Fuselage, wings, tail, landing gear,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4370000"/>
            <a:ext cx="7638473" cy="25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Decisions D1–D8 are subsystem-level architectural choices, each directly maps to one or more physical blocks above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Architectural Decision Graph (ADG)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b="0" i="1" lang="en" sz="125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Four enumeration-level constraints reduce feasible architectures, decisions are NOT independent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611880" y="96012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48640" y="182880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92024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063240" y="182880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25780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40080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691640" y="29718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474720" y="39319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863840" y="10058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863840" y="15087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7863840" y="20116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365760" y="38862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Enumeration-Level Constraints: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65760" y="41879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D1 → D4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417320" y="4187952"/>
            <a:ext cx="23850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Topology limits valid motor mounting positions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65760" y="44165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D3 → D4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1417320" y="4416552"/>
            <a:ext cx="23850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Motor count sets the size of the position matrix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65760" y="46451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D5 → D7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417320" y="4645152"/>
            <a:ext cx="2255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Triple FCC forces ≥3 separate LRU packages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65760" y="48737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D6 → D7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417320" y="4873752"/>
            <a:ext cx="23850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Avionics style constrains LRU co-packaging rules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921258"/>
            <a:ext cx="4381500" cy="40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</a:t>
            </a:r>
            <a:r>
              <a:rPr b="1" lang="en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Decisions &amp; </a:t>
            </a: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Space Size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250"/>
              <a:buFont typeface="Calibri"/>
              <a:buNone/>
            </a:pPr>
            <a:r>
              <a:rPr b="0" i="1" lang="en" sz="12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How 184,212 feasible architectures are derived all exhaustively evaluated, no sampling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11"/>
          <p:cNvGraphicFramePr/>
          <p:nvPr/>
        </p:nvGraphicFramePr>
        <p:xfrm>
          <a:off x="36576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{67D1C854-49F7-485F-8E80-18D8214B3BBF}</a:tableStyleId>
              </a:tblPr>
              <a:tblGrid>
                <a:gridCol w="2103125"/>
                <a:gridCol w="594350"/>
                <a:gridCol w="640075"/>
                <a:gridCol w="214885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 Propulsion Topology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Series / Parallel / Turboelectric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 Battery Chemistry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NMC / LFP / Solid-State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 Number of Motors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/ 2 / 4 motors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 Motor Position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4A2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Constrained by D1×D3 — n=4 or 5 positions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D5 FCC Redundancy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Simplex / Dual / Triple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D6 Avionics Integration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Federated / IMA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 LRU Decomposition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4A2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Constrained by D5×D6 — S(6,2) + S(6,3)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D8 CAPS Parachute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Installed / Not Installed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3A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11"/>
          <p:cNvSpPr/>
          <p:nvPr/>
        </p:nvSpPr>
        <p:spPr>
          <a:xfrm>
            <a:off x="6080760" y="1097280"/>
            <a:ext cx="2743200" cy="3611880"/>
          </a:xfrm>
          <a:prstGeom prst="rect">
            <a:avLst/>
          </a:prstGeom>
          <a:solidFill>
            <a:srgbClr val="1B26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080760" y="1097280"/>
            <a:ext cx="2743200" cy="54864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172200" y="120700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Total Feasible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Architectures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172200" y="1901952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184,212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172200" y="27432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= 51 × 3 × 301 × 2 ×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1"/>
          <p:cNvCxnSpPr/>
          <p:nvPr/>
        </p:nvCxnSpPr>
        <p:spPr>
          <a:xfrm>
            <a:off x="6400800" y="3108960"/>
            <a:ext cx="2103120" cy="0"/>
          </a:xfrm>
          <a:prstGeom prst="straightConnector1">
            <a:avLst/>
          </a:prstGeom>
          <a:noFill/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1"/>
          <p:cNvSpPr/>
          <p:nvPr/>
        </p:nvSpPr>
        <p:spPr>
          <a:xfrm>
            <a:off x="6172200" y="321868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Full enumeration.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No sampling used.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All configs evaluated.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65760" y="4791456"/>
            <a:ext cx="8412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SF = Standard Form (pick-one)  ·  DS = Downselecting  ·  PA = Partitioning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metrics</a:t>
            </a:r>
            <a:endParaRPr b="1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1" name="Google Shape;251;p12"/>
          <p:cNvGrpSpPr/>
          <p:nvPr/>
        </p:nvGrpSpPr>
        <p:grpSpPr>
          <a:xfrm>
            <a:off x="321265" y="2433630"/>
            <a:ext cx="1920240" cy="2377440"/>
            <a:chOff x="320040" y="2770815"/>
            <a:chExt cx="2651700" cy="1705935"/>
          </a:xfrm>
        </p:grpSpPr>
        <p:sp>
          <p:nvSpPr>
            <p:cNvPr id="252" name="Google Shape;252;p12"/>
            <p:cNvSpPr/>
            <p:nvPr/>
          </p:nvSpPr>
          <p:spPr>
            <a:xfrm>
              <a:off x="320040" y="2990850"/>
              <a:ext cx="2651700" cy="14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381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Unit : $/hr</a:t>
              </a:r>
              <a:b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Cost → C = sum C(Di) </a:t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S</a:t>
              </a: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ubsystem costs sum linearly (first‑order fidelity)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320040" y="2770815"/>
              <a:ext cx="2651700" cy="502800"/>
            </a:xfrm>
            <a:prstGeom prst="rect">
              <a:avLst/>
            </a:prstGeom>
            <a:solidFill>
              <a:srgbClr val="C0392B"/>
            </a:solidFill>
            <a:ln cap="flat" cmpd="sng" w="12700">
              <a:solidFill>
                <a:srgbClr val="C039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Operating cost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12"/>
          <p:cNvGrpSpPr/>
          <p:nvPr/>
        </p:nvGrpSpPr>
        <p:grpSpPr>
          <a:xfrm>
            <a:off x="2478120" y="2433630"/>
            <a:ext cx="1920240" cy="2377440"/>
            <a:chOff x="320040" y="2770815"/>
            <a:chExt cx="2651700" cy="1705935"/>
          </a:xfrm>
        </p:grpSpPr>
        <p:sp>
          <p:nvSpPr>
            <p:cNvPr id="255" name="Google Shape;255;p12"/>
            <p:cNvSpPr/>
            <p:nvPr/>
          </p:nvSpPr>
          <p:spPr>
            <a:xfrm>
              <a:off x="320040" y="2990850"/>
              <a:ext cx="2651700" cy="14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381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000"/>
                <a:t>Un</a:t>
              </a: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it : Years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 = max(S_seq, S_par) 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S</a:t>
              </a: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equential D1-&gt;D5-&gt;D6 </a:t>
              </a:r>
              <a:r>
                <a:rPr lang="en" sz="1000"/>
                <a:t>lane</a:t>
              </a: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vs concurrent tracks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320040" y="2770815"/>
              <a:ext cx="2651700" cy="502800"/>
            </a:xfrm>
            <a:prstGeom prst="rect">
              <a:avLst/>
            </a:prstGeom>
            <a:solidFill>
              <a:srgbClr val="C0392B"/>
            </a:solidFill>
            <a:ln cap="flat" cmpd="sng" w="12700">
              <a:solidFill>
                <a:srgbClr val="C039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Certification schedule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12"/>
          <p:cNvGrpSpPr/>
          <p:nvPr/>
        </p:nvGrpSpPr>
        <p:grpSpPr>
          <a:xfrm>
            <a:off x="4634990" y="2433550"/>
            <a:ext cx="1920372" cy="2377501"/>
            <a:chOff x="320040" y="2770815"/>
            <a:chExt cx="2651714" cy="1706014"/>
          </a:xfrm>
        </p:grpSpPr>
        <p:sp>
          <p:nvSpPr>
            <p:cNvPr id="258" name="Google Shape;258;p12"/>
            <p:cNvSpPr/>
            <p:nvPr/>
          </p:nvSpPr>
          <p:spPr>
            <a:xfrm>
              <a:off x="320054" y="3154729"/>
              <a:ext cx="2651700" cy="132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381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Unit : </a:t>
              </a:r>
              <a:r>
                <a:rPr lang="en" sz="1000"/>
                <a:t>%</a:t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 = R_series * R_parallel 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B</a:t>
              </a: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lending propulsion chain sensitivity with tolerant FCC/avionics/LRU redundancy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320040" y="2770815"/>
              <a:ext cx="2651700" cy="502800"/>
            </a:xfrm>
            <a:prstGeom prst="rect">
              <a:avLst/>
            </a:prstGeom>
            <a:solidFill>
              <a:srgbClr val="C0392B"/>
            </a:solidFill>
            <a:ln cap="flat" cmpd="sng" w="12700">
              <a:solidFill>
                <a:srgbClr val="C039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Propulsion reliability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2"/>
          <p:cNvGrpSpPr/>
          <p:nvPr/>
        </p:nvGrpSpPr>
        <p:grpSpPr>
          <a:xfrm>
            <a:off x="6791846" y="2433550"/>
            <a:ext cx="1920361" cy="2377391"/>
            <a:chOff x="320040" y="2770815"/>
            <a:chExt cx="2651700" cy="1705935"/>
          </a:xfrm>
        </p:grpSpPr>
        <p:sp>
          <p:nvSpPr>
            <p:cNvPr id="261" name="Google Shape;261;p12"/>
            <p:cNvSpPr/>
            <p:nvPr/>
          </p:nvSpPr>
          <p:spPr>
            <a:xfrm>
              <a:off x="320040" y="2990850"/>
              <a:ext cx="2651700" cy="14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381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Unit : Years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 = min(L_series, L_parallel), 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C</a:t>
              </a:r>
              <a: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apturing weak‑link physics vs redundancy uplift</a:t>
              </a:r>
              <a:br>
                <a:rPr b="0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320040" y="2770815"/>
              <a:ext cx="2651700" cy="502800"/>
            </a:xfrm>
            <a:prstGeom prst="rect">
              <a:avLst/>
            </a:prstGeom>
            <a:solidFill>
              <a:srgbClr val="C0392B"/>
            </a:solidFill>
            <a:ln cap="flat" cmpd="sng" w="12700">
              <a:solidFill>
                <a:srgbClr val="C039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System Durability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Durability Icon Images – Browse 62,185 ..."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22707" r="22937" t="0"/>
          <a:stretch/>
        </p:blipFill>
        <p:spPr>
          <a:xfrm>
            <a:off x="7063954" y="878737"/>
            <a:ext cx="1371600" cy="1377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rating Costs Calculation: Unlocking Financial Health and Sustainability  - Edara Blog" id="264" name="Google Shape;264;p12"/>
          <p:cNvPicPr preferRelativeResize="0"/>
          <p:nvPr/>
        </p:nvPicPr>
        <p:blipFill rotWithShape="1">
          <a:blip r:embed="rId4">
            <a:alphaModFix/>
          </a:blip>
          <a:srcRect b="33458" l="34079" r="31734" t="18088"/>
          <a:stretch/>
        </p:blipFill>
        <p:spPr>
          <a:xfrm>
            <a:off x="472600" y="941835"/>
            <a:ext cx="1371600" cy="1215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one Certification Guide: Inside the FAA's Part 107 Regulations" id="265" name="Google Shape;265;p12"/>
          <p:cNvPicPr preferRelativeResize="0"/>
          <p:nvPr/>
        </p:nvPicPr>
        <p:blipFill rotWithShape="1">
          <a:blip r:embed="rId5">
            <a:alphaModFix/>
          </a:blip>
          <a:srcRect b="5291" l="23556" r="23111" t="6183"/>
          <a:stretch/>
        </p:blipFill>
        <p:spPr>
          <a:xfrm>
            <a:off x="2461260" y="1119052"/>
            <a:ext cx="1371600" cy="851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iability - Free security icons" id="266" name="Google Shape;26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607" y="941835"/>
            <a:ext cx="137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img_helix.png" id="272" name="Google Shape;272;p13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>
            <a:off x="7132320" y="658368"/>
            <a:ext cx="201168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Multi-Objective Genetic Algorithm (NSGA-II) for Architecture Selection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256032" y="777240"/>
            <a:ext cx="4160520" cy="4069080"/>
          </a:xfrm>
          <a:prstGeom prst="rect">
            <a:avLst/>
          </a:prstGeom>
          <a:solidFill>
            <a:srgbClr val="F1F5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256032" y="777240"/>
            <a:ext cx="4160520" cy="29260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256032" y="77724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OPTIMIZATION FLOW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76072" y="1161288"/>
            <a:ext cx="3520440" cy="475488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76072" y="1161288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Feasible Architecture Set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184,212 Architectures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13"/>
          <p:cNvCxnSpPr/>
          <p:nvPr/>
        </p:nvCxnSpPr>
        <p:spPr>
          <a:xfrm>
            <a:off x="2335378" y="1636776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3"/>
          <p:cNvSpPr/>
          <p:nvPr/>
        </p:nvSpPr>
        <p:spPr>
          <a:xfrm>
            <a:off x="2171700" y="161848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76072" y="1819656"/>
            <a:ext cx="3520440" cy="47548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576072" y="1819656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 Encoding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Integer → 26-bit Chromosome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13"/>
          <p:cNvCxnSpPr/>
          <p:nvPr/>
        </p:nvCxnSpPr>
        <p:spPr>
          <a:xfrm>
            <a:off x="2335378" y="2295144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3"/>
          <p:cNvSpPr/>
          <p:nvPr/>
        </p:nvSpPr>
        <p:spPr>
          <a:xfrm>
            <a:off x="2171700" y="227685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76072" y="2478024"/>
            <a:ext cx="3520440" cy="475488"/>
          </a:xfrm>
          <a:prstGeom prst="rect">
            <a:avLst/>
          </a:prstGeom>
          <a:solidFill>
            <a:srgbClr val="2C7BE5"/>
          </a:solidFill>
          <a:ln cap="flat" cmpd="sng" w="12700">
            <a:solidFill>
              <a:srgbClr val="2C7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576072" y="2478024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NSGA-II Optimization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Selection · Crossover · Mutation · Repair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3"/>
          <p:cNvCxnSpPr/>
          <p:nvPr/>
        </p:nvCxnSpPr>
        <p:spPr>
          <a:xfrm>
            <a:off x="2335378" y="2953512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3"/>
          <p:cNvSpPr/>
          <p:nvPr/>
        </p:nvSpPr>
        <p:spPr>
          <a:xfrm>
            <a:off x="2171700" y="2935224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576072" y="3136392"/>
            <a:ext cx="3520440" cy="475488"/>
          </a:xfrm>
          <a:prstGeom prst="rect">
            <a:avLst/>
          </a:prstGeom>
          <a:solidFill>
            <a:srgbClr val="0E9F8A"/>
          </a:solidFill>
          <a:ln cap="flat" cmpd="sng" w="12700">
            <a:solidFill>
              <a:srgbClr val="0E9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576072" y="3136392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Fitness Evaluation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↓  |  Cert Time ↓  |  Reliability ↑  |  Durability ↑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13"/>
          <p:cNvCxnSpPr/>
          <p:nvPr/>
        </p:nvCxnSpPr>
        <p:spPr>
          <a:xfrm>
            <a:off x="2335378" y="361188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13"/>
          <p:cNvSpPr/>
          <p:nvPr/>
        </p:nvSpPr>
        <p:spPr>
          <a:xfrm>
            <a:off x="2171700" y="3593592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76072" y="3794760"/>
            <a:ext cx="3520440" cy="47548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76072" y="3794760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Pareto-Optimal Architectures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Output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OPTIMIZATION OBJECTIVES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4773168" y="1106424"/>
            <a:ext cx="237744" cy="182880"/>
          </a:xfrm>
          <a:prstGeom prst="rect">
            <a:avLst/>
          </a:prstGeom>
          <a:solidFill>
            <a:srgbClr val="2C7BE5"/>
          </a:solidFill>
          <a:ln cap="flat" cmpd="sng" w="12700">
            <a:solidFill>
              <a:srgbClr val="2C7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773168" y="1106424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065776" y="1106424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Minimize Operating Cost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773168" y="1348740"/>
            <a:ext cx="237744" cy="182880"/>
          </a:xfrm>
          <a:prstGeom prst="rect">
            <a:avLst/>
          </a:prstGeom>
          <a:solidFill>
            <a:srgbClr val="2C7BE5"/>
          </a:solidFill>
          <a:ln cap="flat" cmpd="sng" w="12700">
            <a:solidFill>
              <a:srgbClr val="2C7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773168" y="1348740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065776" y="1348740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Minimize Certification Schedule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773168" y="1591056"/>
            <a:ext cx="237744" cy="182880"/>
          </a:xfrm>
          <a:prstGeom prst="rect">
            <a:avLst/>
          </a:prstGeom>
          <a:solidFill>
            <a:srgbClr val="0E9F8A"/>
          </a:solidFill>
          <a:ln cap="flat" cmpd="sng" w="12700">
            <a:solidFill>
              <a:srgbClr val="0E9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773168" y="1591056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065776" y="1591056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Maximize Reliability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773168" y="1833372"/>
            <a:ext cx="237744" cy="182880"/>
          </a:xfrm>
          <a:prstGeom prst="rect">
            <a:avLst/>
          </a:prstGeom>
          <a:solidFill>
            <a:srgbClr val="0E9F8A"/>
          </a:solidFill>
          <a:ln cap="flat" cmpd="sng" w="12700">
            <a:solidFill>
              <a:srgbClr val="0E9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773168" y="1833372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5065776" y="1833372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Maximize Durability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663440" y="2148840"/>
            <a:ext cx="4206240" cy="2743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663440" y="21488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 CONFIGURATION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663440" y="2423160"/>
            <a:ext cx="4206240" cy="192024"/>
          </a:xfrm>
          <a:prstGeom prst="rect">
            <a:avLst/>
          </a:prstGeom>
          <a:solidFill>
            <a:srgbClr val="F1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754880" y="2423160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Population Size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7397496" y="2423160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663440" y="2615184"/>
            <a:ext cx="42062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754880" y="2615184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Generations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7397496" y="2615184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663440" y="2807208"/>
            <a:ext cx="4206240" cy="192024"/>
          </a:xfrm>
          <a:prstGeom prst="rect">
            <a:avLst/>
          </a:prstGeom>
          <a:solidFill>
            <a:srgbClr val="F1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754880" y="2807208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Uniform Crossover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7397496" y="2807208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0.8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663440" y="2999232"/>
            <a:ext cx="4206240" cy="192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754880" y="2999232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Mutation Probability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7397496" y="2999232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663440" y="3191256"/>
            <a:ext cx="4206240" cy="192024"/>
          </a:xfrm>
          <a:prstGeom prst="rect">
            <a:avLst/>
          </a:prstGeom>
          <a:solidFill>
            <a:srgbClr val="F1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754880" y="3191256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Elitism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7397496" y="3191256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663440" y="3438144"/>
            <a:ext cx="4206240" cy="2560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663440" y="3438144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CONSTRAINT HANDLING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754880" y="3712464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Repair-based feasibility correction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Penalization of infeasible architectures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663440" y="4096512"/>
            <a:ext cx="4206240" cy="2560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663440" y="409651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OBSERVATION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754880" y="437083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Rapid convergence within ~20 generations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Key decisions: D1 · D3 · D5 (FCC) · D7 (LRU)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28600" y="4754880"/>
            <a:ext cx="86868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KEY INSIGHT  </a:t>
            </a:r>
            <a:r>
              <a:rPr b="0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GA rapidly identified a constrained Pareto region where balanced architectures outperformed extreme high-complexity designs.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img_tech.png" id="340" name="Google Shape;340;p14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0" y="658368"/>
            <a:ext cx="18288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Selected Architectures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1828800" y="777240"/>
            <a:ext cx="7040880" cy="2743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828800" y="77724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 COMPARISON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5" name="Google Shape;345;p14"/>
          <p:cNvGraphicFramePr/>
          <p:nvPr/>
        </p:nvGraphicFramePr>
        <p:xfrm>
          <a:off x="1828800" y="1069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{0B284BB9-013C-4832-BC90-2244B0F7EED6}</a:tableStyleId>
              </a:tblPr>
              <a:tblGrid>
                <a:gridCol w="2295950"/>
                <a:gridCol w="2372475"/>
                <a:gridCol w="23724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Architecture 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7B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Architecture 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28D9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E293B"/>
                          </a:solidFill>
                        </a:rPr>
                        <a:t>De</a:t>
                      </a:r>
                      <a:r>
                        <a:rPr b="1" lang="en" sz="1000">
                          <a:solidFill>
                            <a:srgbClr val="1E293B"/>
                          </a:solidFill>
                        </a:rPr>
                        <a:t>cision Vector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0,1,1,0,0,1,1,0,0,0,0,0,0,1,0,0,0,1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0,1,1,1,1,0,0,0,0,0,0,0,0,1,1,1,0,1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E293B"/>
                          </a:solidFill>
                        </a:rPr>
                        <a:t>Operating Cost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1,450 $/hr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1,450 $/hr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E293B"/>
                          </a:solidFill>
                        </a:rPr>
                        <a:t>Certification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5.5 yrs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5.5 yrs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E293B"/>
                          </a:solidFill>
                        </a:rPr>
                        <a:t>Reliability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99.1%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99.1%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E293B"/>
                          </a:solidFill>
                        </a:rPr>
                        <a:t>Durability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8 yrs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8 yrs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E293B"/>
                          </a:solidFill>
                        </a:rPr>
                        <a:t>Key Feature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Balanced redundancy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E293B"/>
                          </a:solidFill>
                        </a:rPr>
                        <a:t>Concentrated fault tol.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14"/>
          <p:cNvSpPr/>
          <p:nvPr/>
        </p:nvSpPr>
        <p:spPr>
          <a:xfrm>
            <a:off x="1828800" y="2862072"/>
            <a:ext cx="7040880" cy="274320"/>
          </a:xfrm>
          <a:prstGeom prst="rect">
            <a:avLst/>
          </a:prstGeom>
          <a:solidFill>
            <a:srgbClr val="0E9F8A"/>
          </a:solidFill>
          <a:ln cap="flat" cmpd="sng" w="12700">
            <a:solidFill>
              <a:srgbClr val="0E9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1828800" y="286207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 INTERPRETATION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828800" y="3154680"/>
            <a:ext cx="7040880" cy="224028"/>
          </a:xfrm>
          <a:prstGeom prst="rect">
            <a:avLst/>
          </a:prstGeom>
          <a:solidFill>
            <a:srgbClr val="F1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920544" y="3235452"/>
            <a:ext cx="168369" cy="100584"/>
          </a:xfrm>
          <a:prstGeom prst="rect">
            <a:avLst/>
          </a:prstGeom>
          <a:solidFill>
            <a:srgbClr val="2C7BE5"/>
          </a:solidFill>
          <a:ln cap="flat" cmpd="sng" w="12700">
            <a:solidFill>
              <a:srgbClr val="2C7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2180657" y="3154680"/>
            <a:ext cx="64593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Pareto front is discrete and clustered (combinatorial space)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1828800" y="3378708"/>
            <a:ext cx="704088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930725" y="3461004"/>
            <a:ext cx="168369" cy="100584"/>
          </a:xfrm>
          <a:prstGeom prst="rect">
            <a:avLst/>
          </a:prstGeom>
          <a:solidFill>
            <a:srgbClr val="2C7BE5"/>
          </a:solidFill>
          <a:ln cap="flat" cmpd="sng" w="12700">
            <a:solidFill>
              <a:srgbClr val="2C7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2190839" y="3378708"/>
            <a:ext cx="644915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Multiple decision vectors map to similar objective values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828800" y="3602736"/>
            <a:ext cx="7040880" cy="224028"/>
          </a:xfrm>
          <a:prstGeom prst="rect">
            <a:avLst/>
          </a:prstGeom>
          <a:solidFill>
            <a:srgbClr val="F1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920543" y="3669792"/>
            <a:ext cx="168369" cy="100584"/>
          </a:xfrm>
          <a:prstGeom prst="rect">
            <a:avLst/>
          </a:prstGeom>
          <a:solidFill>
            <a:srgbClr val="2C7BE5"/>
          </a:solidFill>
          <a:ln cap="flat" cmpd="sng" w="12700">
            <a:solidFill>
              <a:srgbClr val="2C7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2190839" y="3602736"/>
            <a:ext cx="644915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GA converged rapidly to stable high-performing architectures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828800" y="3826764"/>
            <a:ext cx="7040880" cy="2240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930725" y="3899916"/>
            <a:ext cx="168369" cy="100584"/>
          </a:xfrm>
          <a:prstGeom prst="rect">
            <a:avLst/>
          </a:prstGeom>
          <a:solidFill>
            <a:srgbClr val="2C7BE5"/>
          </a:solidFill>
          <a:ln cap="flat" cmpd="sng" w="12700">
            <a:solidFill>
              <a:srgbClr val="2C7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2201019" y="3826764"/>
            <a:ext cx="643897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Balanced architectures outperform extreme distributed configs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828800" y="4105656"/>
            <a:ext cx="7040880" cy="256032"/>
          </a:xfrm>
          <a:prstGeom prst="rect">
            <a:avLst/>
          </a:prstGeom>
          <a:solidFill>
            <a:srgbClr val="FEF9C3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930725" y="4105656"/>
            <a:ext cx="6811287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⚠ Limitation:  </a:t>
            </a:r>
            <a:r>
              <a:rPr b="0" i="0" lang="en" sz="900" u="none" cap="none" strike="noStrike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rPr>
              <a:t>Simplified additive cost and reliability assumptions reduce interaction sensitivity.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228600" y="4754880"/>
            <a:ext cx="86868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KEY FINDING  </a:t>
            </a:r>
            <a:r>
              <a:rPr b="0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Pareto front is clustered, indicating high-performing architectures share common structural decisions — enabling robust engineering trade-off selection.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15"/>
          <p:cNvPicPr preferRelativeResize="0"/>
          <p:nvPr/>
        </p:nvPicPr>
        <p:blipFill rotWithShape="1">
          <a:blip r:embed="rId3">
            <a:alphaModFix/>
          </a:blip>
          <a:srcRect b="0" l="0" r="50000" t="66222"/>
          <a:stretch/>
        </p:blipFill>
        <p:spPr>
          <a:xfrm>
            <a:off x="4785358" y="1181100"/>
            <a:ext cx="3901442" cy="2598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5"/>
          <p:cNvPicPr preferRelativeResize="0"/>
          <p:nvPr/>
        </p:nvPicPr>
        <p:blipFill rotWithShape="1">
          <a:blip r:embed="rId3">
            <a:alphaModFix/>
          </a:blip>
          <a:srcRect b="67556" l="50000" r="0" t="0"/>
          <a:stretch/>
        </p:blipFill>
        <p:spPr>
          <a:xfrm>
            <a:off x="457200" y="1208413"/>
            <a:ext cx="3901442" cy="257110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5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Tradespace &amp; Selected Architecture- I</a:t>
            </a:r>
            <a:endParaRPr b="1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457200" y="877584"/>
            <a:ext cx="3901442" cy="44829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0000"/>
                </a:solidFill>
              </a:rPr>
              <a:t>Cost vs Reliability</a:t>
            </a:r>
            <a:endParaRPr b="1" i="0" sz="800" u="none" cap="none" strike="noStrike">
              <a:solidFill>
                <a:srgbClr val="000000"/>
              </a:solidFill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4785358" y="897276"/>
            <a:ext cx="3901442" cy="44829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0000"/>
                </a:solidFill>
              </a:rPr>
              <a:t>Durability vs Cost</a:t>
            </a:r>
            <a:endParaRPr b="1" i="0" sz="800" u="none" cap="none" strike="noStrike">
              <a:solidFill>
                <a:srgbClr val="000000"/>
              </a:solidFill>
            </a:endParaRPr>
          </a:p>
        </p:txBody>
      </p:sp>
      <p:sp>
        <p:nvSpPr>
          <p:cNvPr id="374" name="Google Shape;374;p15"/>
          <p:cNvSpPr txBox="1"/>
          <p:nvPr/>
        </p:nvSpPr>
        <p:spPr>
          <a:xfrm>
            <a:off x="457200" y="3977640"/>
            <a:ext cx="390144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 sits on horizontal ridges while cost varies widely; yellow highlights where your selected architectures sit on the cost–reliability trade</a:t>
            </a:r>
            <a:endParaRPr/>
          </a:p>
        </p:txBody>
      </p:sp>
      <p:sp>
        <p:nvSpPr>
          <p:cNvPr id="375" name="Google Shape;375;p15"/>
          <p:cNvSpPr txBox="1"/>
          <p:nvPr/>
        </p:nvSpPr>
        <p:spPr>
          <a:xfrm>
            <a:off x="4785358" y="3933361"/>
            <a:ext cx="390144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Vertical bands mean many cost levels exist at each durability level; yellow pinpoints minimum (or chosen) cost at the target durability band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16"/>
          <p:cNvPicPr preferRelativeResize="0"/>
          <p:nvPr/>
        </p:nvPicPr>
        <p:blipFill rotWithShape="1">
          <a:blip r:embed="rId3">
            <a:alphaModFix/>
          </a:blip>
          <a:srcRect b="33778" l="0" r="50000" t="32444"/>
          <a:stretch/>
        </p:blipFill>
        <p:spPr>
          <a:xfrm>
            <a:off x="4663442" y="1045694"/>
            <a:ext cx="3901442" cy="251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6"/>
          <p:cNvPicPr preferRelativeResize="0"/>
          <p:nvPr/>
        </p:nvPicPr>
        <p:blipFill rotWithShape="1">
          <a:blip r:embed="rId3">
            <a:alphaModFix/>
          </a:blip>
          <a:srcRect b="67556" l="0" r="50000" t="0"/>
          <a:stretch/>
        </p:blipFill>
        <p:spPr>
          <a:xfrm>
            <a:off x="457200" y="1099035"/>
            <a:ext cx="3901442" cy="2459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6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Tradespace &amp; Selected Architecture- II</a:t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457200" y="755664"/>
            <a:ext cx="3901442" cy="44829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0000"/>
                </a:solidFill>
              </a:rPr>
              <a:t>Cost vs Certification schedule</a:t>
            </a:r>
            <a:endParaRPr b="1" i="0" sz="800" u="none" cap="none" strike="noStrike">
              <a:solidFill>
                <a:srgbClr val="000000"/>
              </a:solidFill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4663442" y="755664"/>
            <a:ext cx="3901442" cy="44829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0000"/>
                </a:solidFill>
              </a:rPr>
              <a:t>Certification schedule vs Reliability</a:t>
            </a:r>
            <a:endParaRPr b="1" i="0" sz="800" u="none" cap="none" strike="noStrike">
              <a:solidFill>
                <a:srgbClr val="000000"/>
              </a:solidFill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457200" y="3977640"/>
            <a:ext cx="3901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iscrete horizontal bands show how cost stratifies at fixed certification times; the yellow point marks one MOGA/Pareto solution set in that 2‑D slice</a:t>
            </a:r>
            <a:endParaRPr/>
          </a:p>
        </p:txBody>
      </p:sp>
      <p:sp>
        <p:nvSpPr>
          <p:cNvPr id="387" name="Google Shape;387;p16"/>
          <p:cNvSpPr txBox="1"/>
          <p:nvPr/>
        </p:nvSpPr>
        <p:spPr>
          <a:xfrm>
            <a:off x="4663442" y="3977640"/>
            <a:ext cx="390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Grid-like pattern from discrete cert levels and reliability bins; yellow shows solutions’ regulatory-time vs safety posture.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/>
          <p:nvPr/>
        </p:nvSpPr>
        <p:spPr>
          <a:xfrm>
            <a:off x="13" y="0"/>
            <a:ext cx="4572000" cy="514350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1B2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4544540" y="0"/>
            <a:ext cx="54900" cy="514350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751700" y="224375"/>
            <a:ext cx="31089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Optimal Architecture: Balanced Efficiency</a:t>
            </a:r>
            <a:endParaRPr b="0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365750" y="1427838"/>
            <a:ext cx="388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b="0" i="0" lang="en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Selection of Pareto-Optimal Architecture A via MOGA Optimization</a:t>
            </a:r>
            <a:endParaRPr b="0" i="0" sz="1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" name="Google Shape;397;p17"/>
          <p:cNvGrpSpPr/>
          <p:nvPr/>
        </p:nvGrpSpPr>
        <p:grpSpPr>
          <a:xfrm>
            <a:off x="985548" y="1816926"/>
            <a:ext cx="2600918" cy="1974797"/>
            <a:chOff x="-81004" y="-170113"/>
            <a:chExt cx="4353000" cy="3305100"/>
          </a:xfrm>
        </p:grpSpPr>
        <p:pic>
          <p:nvPicPr>
            <p:cNvPr id="398" name="Google Shape;39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81004" y="-170113"/>
              <a:ext cx="4353000" cy="3305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9" name="Google Shape;399;p17"/>
            <p:cNvGrpSpPr/>
            <p:nvPr/>
          </p:nvGrpSpPr>
          <p:grpSpPr>
            <a:xfrm>
              <a:off x="190500" y="190500"/>
              <a:ext cx="3810000" cy="2476500"/>
              <a:chOff x="0" y="0"/>
              <a:chExt cx="3810000" cy="2476500"/>
            </a:xfrm>
          </p:grpSpPr>
          <p:sp>
            <p:nvSpPr>
              <p:cNvPr id="400" name="Google Shape;400;p17"/>
              <p:cNvSpPr txBox="1"/>
              <p:nvPr/>
            </p:nvSpPr>
            <p:spPr>
              <a:xfrm>
                <a:off x="0" y="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1" i="0" lang="en" sz="657" u="none" cap="none" strike="noStrik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Propulsion (D1)</a:t>
                </a:r>
                <a:endParaRPr b="1" i="0" sz="657" u="none" cap="none" strike="noStrik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7"/>
              <p:cNvSpPr txBox="1"/>
              <p:nvPr/>
            </p:nvSpPr>
            <p:spPr>
              <a:xfrm>
                <a:off x="190500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0" i="0" lang="en" sz="657" u="none" cap="none" strike="noStrik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Parallel Hybrid</a:t>
                </a:r>
                <a:endParaRPr b="0" i="0" sz="657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2" name="Google Shape;402;p17"/>
              <p:cNvCxnSpPr/>
              <p:nvPr/>
            </p:nvCxnSpPr>
            <p:spPr>
              <a:xfrm>
                <a:off x="0" y="428625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03" name="Google Shape;403;p17"/>
              <p:cNvSpPr txBox="1"/>
              <p:nvPr/>
            </p:nvSpPr>
            <p:spPr>
              <a:xfrm>
                <a:off x="0" y="523875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1" i="0" lang="en" sz="657" u="none" cap="none" strike="noStrik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Energy Storage (D2)</a:t>
                </a:r>
                <a:endParaRPr b="1" i="0" sz="657" u="none" cap="none" strike="noStrik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7"/>
              <p:cNvSpPr txBox="1"/>
              <p:nvPr/>
            </p:nvSpPr>
            <p:spPr>
              <a:xfrm>
                <a:off x="1905000" y="523875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0" i="0" lang="en" sz="657" u="none" cap="none" strike="noStrik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Li-Ion (High Density)</a:t>
                </a:r>
                <a:endParaRPr b="0" i="0" sz="657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5" name="Google Shape;405;p17"/>
              <p:cNvCxnSpPr/>
              <p:nvPr/>
            </p:nvCxnSpPr>
            <p:spPr>
              <a:xfrm>
                <a:off x="0" y="952500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06" name="Google Shape;406;p17"/>
              <p:cNvSpPr txBox="1"/>
              <p:nvPr/>
            </p:nvSpPr>
            <p:spPr>
              <a:xfrm>
                <a:off x="0" y="104775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1" i="0" lang="en" sz="657" u="none" cap="none" strike="noStrik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Motor Setup (D3/D4)</a:t>
                </a:r>
                <a:endParaRPr b="1" i="0" sz="657" u="none" cap="none" strike="noStrik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7"/>
              <p:cNvSpPr txBox="1"/>
              <p:nvPr/>
            </p:nvSpPr>
            <p:spPr>
              <a:xfrm>
                <a:off x="1905000" y="10477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0" i="0" lang="en" sz="657" u="none" cap="none" strike="noStrik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2+ Motors, Wing-Mounted</a:t>
                </a:r>
                <a:endParaRPr b="0" i="0" sz="657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8" name="Google Shape;408;p17"/>
              <p:cNvCxnSpPr/>
              <p:nvPr/>
            </p:nvCxnSpPr>
            <p:spPr>
              <a:xfrm>
                <a:off x="0" y="1476375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09" name="Google Shape;409;p17"/>
              <p:cNvSpPr txBox="1"/>
              <p:nvPr/>
            </p:nvSpPr>
            <p:spPr>
              <a:xfrm>
                <a:off x="0" y="1571625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1" i="0" lang="en" sz="657" u="none" cap="none" strike="noStrik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Control (D5/D6)</a:t>
                </a:r>
                <a:endParaRPr b="1" i="0" sz="657" u="none" cap="none" strike="noStrik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7"/>
              <p:cNvSpPr txBox="1"/>
              <p:nvPr/>
            </p:nvSpPr>
            <p:spPr>
              <a:xfrm>
                <a:off x="1905000" y="1571625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0" i="0" lang="en" sz="657" u="none" cap="none" strike="noStrik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Dual-Lane FCC &amp; IMA</a:t>
                </a:r>
                <a:endParaRPr b="0" i="0" sz="657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1" name="Google Shape;411;p17"/>
              <p:cNvCxnSpPr/>
              <p:nvPr/>
            </p:nvCxnSpPr>
            <p:spPr>
              <a:xfrm>
                <a:off x="0" y="2000250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12" name="Google Shape;412;p17"/>
              <p:cNvSpPr txBox="1"/>
              <p:nvPr/>
            </p:nvSpPr>
            <p:spPr>
              <a:xfrm>
                <a:off x="0" y="209550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1" i="0" lang="en" sz="657" u="none" cap="none" strike="noStrik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Safety (D8)</a:t>
                </a:r>
                <a:endParaRPr b="1" i="0" sz="657" u="none" cap="none" strike="noStrik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7"/>
              <p:cNvSpPr txBox="1"/>
              <p:nvPr/>
            </p:nvSpPr>
            <p:spPr>
              <a:xfrm>
                <a:off x="1905000" y="209550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b="0" i="0" lang="en" sz="657" u="none" cap="none" strike="noStrik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CAPS Installed</a:t>
                </a:r>
                <a:endParaRPr b="0" i="0" sz="657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4" name="Google Shape;414;p17"/>
          <p:cNvGrpSpPr/>
          <p:nvPr/>
        </p:nvGrpSpPr>
        <p:grpSpPr>
          <a:xfrm>
            <a:off x="985550" y="3924900"/>
            <a:ext cx="2600918" cy="836560"/>
            <a:chOff x="-80962" y="-61912"/>
            <a:chExt cx="4353000" cy="1400100"/>
          </a:xfrm>
        </p:grpSpPr>
        <p:pic>
          <p:nvPicPr>
            <p:cNvPr id="415" name="Google Shape;41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80962" y="-61912"/>
              <a:ext cx="4353000" cy="1400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6" name="Google Shape;416;p17"/>
            <p:cNvGrpSpPr/>
            <p:nvPr/>
          </p:nvGrpSpPr>
          <p:grpSpPr>
            <a:xfrm>
              <a:off x="171421" y="352362"/>
              <a:ext cx="4000500" cy="571500"/>
              <a:chOff x="-19079" y="161862"/>
              <a:chExt cx="4000500" cy="571500"/>
            </a:xfrm>
          </p:grpSpPr>
          <p:sp>
            <p:nvSpPr>
              <p:cNvPr id="417" name="Google Shape;417;p17"/>
              <p:cNvSpPr txBox="1"/>
              <p:nvPr/>
            </p:nvSpPr>
            <p:spPr>
              <a:xfrm>
                <a:off x="-19079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4"/>
                  <a:buFont typeface="Arial"/>
                  <a:buNone/>
                </a:pPr>
                <a:r>
                  <a:rPr b="1" i="0" lang="en" sz="1314" u="none" cap="none" strike="noStrike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$1450</a:t>
                </a:r>
                <a:endParaRPr b="1" i="0" sz="1314" u="none" cap="none" strike="noStrike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8"/>
                  <a:buFont typeface="Arial"/>
                  <a:buNone/>
                </a:pPr>
                <a:r>
                  <a:rPr b="0" i="0" lang="en" sz="538" u="none" cap="none" strike="noStrike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Op. Cost / hr</a:t>
                </a:r>
                <a:endParaRPr b="0" i="0" sz="538" u="none" cap="none" strike="noStrike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7"/>
              <p:cNvSpPr txBox="1"/>
              <p:nvPr/>
            </p:nvSpPr>
            <p:spPr>
              <a:xfrm>
                <a:off x="1028671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4"/>
                  <a:buFont typeface="Arial"/>
                  <a:buNone/>
                </a:pPr>
                <a:r>
                  <a:rPr b="1" i="0" lang="en" sz="1314" u="none" cap="none" strike="noStrike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5.5 yr</a:t>
                </a:r>
                <a:endParaRPr b="1" i="0" sz="1314" u="none" cap="none" strike="noStrike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8"/>
                  <a:buFont typeface="Arial"/>
                  <a:buNone/>
                </a:pPr>
                <a:r>
                  <a:rPr b="0" i="0" lang="en" sz="538" u="none" cap="none" strike="noStrike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Cert. Schedule</a:t>
                </a:r>
                <a:endParaRPr b="0" i="0" sz="538" u="none" cap="none" strike="noStrike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7"/>
              <p:cNvSpPr txBox="1"/>
              <p:nvPr/>
            </p:nvSpPr>
            <p:spPr>
              <a:xfrm>
                <a:off x="2076421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4"/>
                  <a:buFont typeface="Arial"/>
                  <a:buNone/>
                </a:pPr>
                <a:r>
                  <a:rPr b="1" i="0" lang="en" sz="1314" u="none" cap="none" strike="noStrike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99.1%</a:t>
                </a:r>
                <a:endParaRPr b="1" i="0" sz="1314" u="none" cap="none" strike="noStrike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8"/>
                  <a:buFont typeface="Arial"/>
                  <a:buNone/>
                </a:pPr>
                <a:r>
                  <a:rPr b="0" i="0" lang="en" sz="538" u="none" cap="none" strike="noStrike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Reliability</a:t>
                </a:r>
                <a:endParaRPr b="0" i="0" sz="538" u="none" cap="none" strike="noStrike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7"/>
              <p:cNvSpPr txBox="1"/>
              <p:nvPr/>
            </p:nvSpPr>
            <p:spPr>
              <a:xfrm>
                <a:off x="3028921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4"/>
                  <a:buFont typeface="Arial"/>
                  <a:buNone/>
                </a:pPr>
                <a:r>
                  <a:rPr b="1" i="0" lang="en" sz="1314" u="none" cap="none" strike="noStrike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 yr</a:t>
                </a:r>
                <a:endParaRPr b="1" i="0" sz="1314" u="none" cap="none" strike="noStrike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8"/>
                  <a:buFont typeface="Arial"/>
                  <a:buNone/>
                </a:pPr>
                <a:r>
                  <a:rPr b="0" i="0" lang="en" sz="538" u="none" cap="none" strike="noStrike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Durability</a:t>
                </a:r>
                <a:endParaRPr b="0" i="0" sz="538" u="none" cap="none" strike="noStrike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1" name="Google Shape;421;p17"/>
          <p:cNvSpPr/>
          <p:nvPr/>
        </p:nvSpPr>
        <p:spPr>
          <a:xfrm>
            <a:off x="5283400" y="224375"/>
            <a:ext cx="31089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Operational Lifecycle &amp; Use Cases</a:t>
            </a:r>
            <a:endParaRPr b="0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4925450" y="1427838"/>
            <a:ext cx="388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b="0" i="0" lang="en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State Transitions and Functional Flow for the RUGA Aircraft</a:t>
            </a:r>
            <a:endParaRPr b="0" i="0" sz="1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6428" y="1970750"/>
            <a:ext cx="3522851" cy="169211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/>
          <p:nvPr/>
        </p:nvSpPr>
        <p:spPr>
          <a:xfrm>
            <a:off x="5076425" y="3824025"/>
            <a:ext cx="6867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000" marR="124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Primary Use Case:</a:t>
            </a:r>
            <a:r>
              <a:rPr b="0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Conversion of fuel/energy (F1) into thrust to control flight path (F2), supported by real-time safety monitoring (F3) and automated avionics (F4).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7912575" y="3824025"/>
            <a:ext cx="6867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000" marR="124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Resilience Logic:</a:t>
            </a:r>
            <a:r>
              <a:rPr b="0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Any flight-phase fault routes immediately to the Emergency state, prioritizing ground resolution or emergency landing over mission completion.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6494500" y="3824025"/>
            <a:ext cx="6867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000" marR="124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Lifecycle States:</a:t>
            </a:r>
            <a:r>
              <a:rPr b="0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The system transitions from </a:t>
            </a:r>
            <a:r>
              <a:rPr b="1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r>
              <a:rPr b="0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through </a:t>
            </a:r>
            <a:r>
              <a:rPr b="1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Pre-Flight</a:t>
            </a:r>
            <a:r>
              <a:rPr b="0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1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Cruising</a:t>
            </a:r>
            <a:r>
              <a:rPr b="0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with a dedicated </a:t>
            </a:r>
            <a:r>
              <a:rPr b="1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r>
              <a:rPr b="0" i="0" lang="en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state triggered by system faults.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Hierarchy &amp; Physical Blocks</a:t>
            </a:r>
            <a:endParaRPr b="1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457200" y="76809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b="0" i="1" lang="en" sz="12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Mapping 22 Level-2 Sub-functions to 5 Primary Physical Subsystems</a:t>
            </a:r>
            <a:endParaRPr b="0" i="1" sz="1200" u="none" cap="none" strike="noStrike">
              <a:solidFill>
                <a:srgbClr val="8FA3B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32004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320040" y="1234440"/>
            <a:ext cx="2651700" cy="502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4115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Subsystems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434450" y="2156850"/>
            <a:ext cx="24231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Airframe (B1)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Propulsion (B2)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Electrical/Energy (B3)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 Control (B4)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Safety/Support (B5)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320040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3200400" y="1234440"/>
            <a:ext cx="2651700" cy="5028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3314700" y="2368275"/>
            <a:ext cx="24231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parallel hybrid powertrain </a:t>
            </a:r>
            <a:b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integrates a thermal engine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(B2.1) with electric motors (B2.2)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a mechanical gearbox (B2.3).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608076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6080760" y="1234440"/>
            <a:ext cx="2651700" cy="5028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329175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Physical Core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61720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Intelligence Layer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6263700" y="2368275"/>
            <a:ext cx="24231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Dual Flight Control Computers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(B4.1) manage the "Control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Path" while the Health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System (B5.1)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governs the "Resilience Logic."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"/>
          <p:cNvSpPr/>
          <p:nvPr/>
        </p:nvSpPr>
        <p:spPr>
          <a:xfrm>
            <a:off x="0" y="0"/>
            <a:ext cx="3749100" cy="514350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1B2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3749040" y="0"/>
            <a:ext cx="54900" cy="514350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365760" y="365760"/>
            <a:ext cx="310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Connectivity &amp; Allocation</a:t>
            </a:r>
            <a:endParaRPr b="0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365760" y="1920240"/>
            <a:ext cx="310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b="1" i="0" lang="en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High-Density Coupling and Interface Management</a:t>
            </a:r>
            <a:endParaRPr b="1" i="0" sz="9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365750" y="2299452"/>
            <a:ext cx="32004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4400" wrap="square" tIns="0">
            <a:noAutofit/>
          </a:bodyPr>
          <a:lstStyle/>
          <a:p>
            <a:pPr indent="-25082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Interface Hubs: </a:t>
            </a: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Airframe acts as the physical hub (structural support), while the Power Distribution Unit (PDU) acts as the electrical bus.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82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Allocated Logic: </a:t>
            </a: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Safety functions (F3, F6) are strictly allocated to the Safety &amp; Support subsystem to ensure prognostic independence.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825" lvl="0" marL="269999" marR="20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DSM Insights: </a:t>
            </a: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Level-2 analysis reveals dense mechanical coupling in the propulsion chain and high informational connectivity for the FCC and Health Monitoring units.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5500" y="728375"/>
            <a:ext cx="4595224" cy="35435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bevel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0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457200" y="76809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b="0" i="1" lang="en" sz="1200" u="none" cap="none" strike="noStrik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Summary of Findings, Targets, and Future Technical Growth</a:t>
            </a:r>
            <a:endParaRPr b="0" i="1" sz="1200" u="none" cap="none" strike="noStrike">
              <a:solidFill>
                <a:srgbClr val="8FA3B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32004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320040" y="1234440"/>
            <a:ext cx="2651700" cy="502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4115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434350" y="1929400"/>
            <a:ext cx="2423100" cy="27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Hubs: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Propulsion Topology (D1) and Motor Count (D3) drive the greatest system impact.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"Safety Rule":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Series hybrids with wing-centered redundancy and CAPS augmentation consistently dominate the Pareto front.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Requirement: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Propulsion redundancy is structurally necessary for market competitiveness.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320040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3200400" y="1234440"/>
            <a:ext cx="2651700" cy="5028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608076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6080760" y="1234440"/>
            <a:ext cx="2651700" cy="5028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329175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Metrics vs. Targets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61720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6263700" y="2368275"/>
            <a:ext cx="2423100" cy="17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Transition from conceptual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surrogate models to high-fidelity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physics-based simulations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(CFD/FEA) and stochastic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000" marR="12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certification risk modeling.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3291750" y="1974875"/>
            <a:ext cx="2423100" cy="27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99.10% (Target: ≥99%) – </a:t>
            </a: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Durability: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 Years (Target: G4) – </a:t>
            </a: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Schedule: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5.5 Years – </a:t>
            </a: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Janhavi Satyawan Gaikwad</dc:creator>
</cp:coreProperties>
</file>