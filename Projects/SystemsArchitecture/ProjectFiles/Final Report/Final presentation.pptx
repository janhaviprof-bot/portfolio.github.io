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9A8F98-7D05-414A-9F44-D7E8C997C524}">
  <a:tblStyle styleId="{769A8F98-7D05-414A-9F44-D7E8C997C5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Lato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0f4c5c1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0f4c5c1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2150d6f18_3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g3e2150d6f18_3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e2150d6f18_3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2150d6f18_3_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g3e2150d6f18_3_2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e2150d6f18_3_2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2150d6f18_3_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e2150d6f18_3_4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e2150d6f18_3_4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2150d6f18_3_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e2150d6f18_3_6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e2150d6f18_3_6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2150d6f18_3_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e2150d6f18_3_9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e2150d6f18_3_9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2150d6f18_3_1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e2150d6f18_3_11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e2150d6f18_3_11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2150d6f18_3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e2150d6f18_3_139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2150d6f18_3_1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e2150d6f18_3_15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e2150d6f18_3_15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2150d6f18_3_1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e2150d6f18_3_16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e2150d6f18_3_16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2150d6f18_3_19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e2150d6f18_3_19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e2150d6f18_3_19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670c18d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8670c18d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8670c18d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8670c18d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257dab889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g3e257dab889_2_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e257dab889_2_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257dab889_2_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g3e257dab889_2_41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e257dab889_2_41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257dab889_2_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g3e257dab889_2_5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e257dab889_2_5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257dab889_2_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g3e257dab889_2_6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e257dab889_2_6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24a06a51b_17_0)">
  <p:cSld name="Generated (g3e24a06a51b_17_0)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Introduction-Anurag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Stakeholder-Anurag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Tradespace-Janhavi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Architecture description-Kris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conclusion-Kris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1B2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5806440" y="0"/>
            <a:ext cx="64008" cy="5143500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57200" y="4114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SYSEN 5400|Spring 2026|Cornell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457200" y="96012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Generation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457200" y="153619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 Aviation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57200" y="2112264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Aircraft System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457200" y="301752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 Resilience-First Systems Engineering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to Hybrid-Electric GA Aircraft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Team  Members |Anurag Yadav (ay468) | Janhavi Gaikwad (jg2569)|Kris Singh(as4499)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989320" y="1463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184,212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989320" y="2212848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Architectures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Explored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6629400" y="2926080"/>
            <a:ext cx="1463040" cy="457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5989320" y="309067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Full Factorial Enumeration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 Problem Space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i="1" lang="en" sz="125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Why general aviation needs a fundamental rethink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320040" y="128016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320040" y="1280160"/>
            <a:ext cx="2651760" cy="5029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411480" y="13258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 Risk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920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/>
          <p:nvPr/>
        </p:nvSpPr>
        <p:spPr>
          <a:xfrm>
            <a:off x="457200" y="2651760"/>
            <a:ext cx="23774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Single-engine GA aircraft remain vulnerable to single-point propulsion failure and loss-of-control events a leading cause of fatal accidents.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200400" y="128016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3200400" y="1280160"/>
            <a:ext cx="2651760" cy="50292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3291840" y="13258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Operating Cost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1920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/>
          <p:nvPr/>
        </p:nvSpPr>
        <p:spPr>
          <a:xfrm>
            <a:off x="3337560" y="2651760"/>
            <a:ext cx="23774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High fuel burn, maintenance complexity, and aging fleet economics make ownership increasingly unviable for schools and private users.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6080760" y="128016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6080760" y="1280160"/>
            <a:ext cx="2651760" cy="50292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6172200" y="13258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Environmental Impact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0" y="1920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6217920" y="2651760"/>
            <a:ext cx="23774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Conventional piston engines contribute lead and carbon pollution, facing mounting regulatory and social pressure to reduce emissions.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457200" y="4855464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proposed system addresses all three: survivability, cost, and sustainability — within FAA Part 23 constraints.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1B2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365760" y="36576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 &amp;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65760" y="19202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365760" y="2212848"/>
            <a:ext cx="32004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Hybrid-electric propulsion architecture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Redundancy &amp; fault-tolerance design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flight-envelope protection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Modular multi-mission platform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23 certification compatibility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65760" y="37490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365760" y="4041648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Detailed aerodynamics &amp; CFD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Structural sizing &amp; FEA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Component-level design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3977640" y="3200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Objectives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3977640" y="96012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709160" y="97840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 Reliability and Survivability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709160" y="130759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Reduce single-point failure exposure in propulsion and flight control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3977640" y="196596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709160" y="198424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 Operating Cost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709160" y="231343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Target ≤$250/hr through hybrid efficiency and lower maintenance burden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3977640" y="297180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709160" y="299008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Cut Carbon Emissions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709160" y="331927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Hybrid-electric architecture targeting ≥20% fuel savings vs. baseline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977640" y="397764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b="1" lang="en" sz="26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709160" y="399592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Remain Certifiable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709160" y="432511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All architectures evaluated within FAA Part 23 requirements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Reference Architectures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i="1" lang="en" sz="125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Three anchors spanning the full GA design space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20040" y="123444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320040" y="1234440"/>
            <a:ext cx="2651760" cy="5029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411480" y="12618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RA1 — Baseline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11480" y="14630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Cessna 172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411480" y="1828800"/>
            <a:ext cx="2468880" cy="24688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429768" y="1837944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1" lang="en" sz="8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Conventional Single-Engine Piston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29768" y="2176272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Mature, certifiable baseline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Single-point propulsion failure risk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 flight envelope protection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Benchmark for cost &amp; simplicity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3200400" y="123444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3200400" y="1234440"/>
            <a:ext cx="2651760" cy="50292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3291840" y="12618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RA2 — Industry Standard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291840" y="14630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Cirrus SR Series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291840" y="1828800"/>
            <a:ext cx="2468880" cy="24688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3310128" y="1837944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50"/>
              <a:buFont typeface="Calibri"/>
              <a:buNone/>
            </a:pPr>
            <a:r>
              <a:rPr b="1" i="1" lang="en" sz="8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Modern Composite + CAPS Recovery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310128" y="2176272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Ballistic parachute recovery system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Improved passive safety margin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Composite airframe construction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Current industry benchmark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080760" y="123444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6080760" y="1234440"/>
            <a:ext cx="2651760" cy="50292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6172200" y="12618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RA3 — Upper Bound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6172200" y="14630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NASA X-57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6172200" y="1828800"/>
            <a:ext cx="2468880" cy="24688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6190488" y="1837944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1" lang="en" sz="85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Distributed Electric Propulsion Demo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6190488" y="2176272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Distributed motor architecture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Highest fault-tolerance potential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Emerging TRL — not yet certifiable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Sets redundancy design ceiling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548640" y="4892040"/>
            <a:ext cx="8046720" cy="0"/>
          </a:xfrm>
          <a:prstGeom prst="straightConnector1">
            <a:avLst/>
          </a:prstGeom>
          <a:noFill/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20"/>
          <p:cNvSpPr/>
          <p:nvPr/>
        </p:nvSpPr>
        <p:spPr>
          <a:xfrm>
            <a:off x="320040" y="491032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← Mature &amp; Certifiable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943600" y="49103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Experimental &amp; Innovative →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Stakeholder Analysis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250"/>
              <a:buFont typeface="Calibri"/>
              <a:buNone/>
            </a:pPr>
            <a:r>
              <a:rPr i="1" lang="en" sz="12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Weighted Stakeholder Occurrence — 12 stakeholder groups identified &amp; ranked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530352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5897880" y="1097280"/>
            <a:ext cx="2880360" cy="3749040"/>
          </a:xfrm>
          <a:prstGeom prst="rect">
            <a:avLst/>
          </a:prstGeom>
          <a:solidFill>
            <a:srgbClr val="1B26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897880" y="1097280"/>
            <a:ext cx="2880360" cy="54864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6035040" y="123444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053328" y="1728216"/>
            <a:ext cx="182880" cy="18288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6309360" y="1700784"/>
            <a:ext cx="23591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Aircraft Owners (62) dominate — the financial nexus connecting insurers, airports, and passengers.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053328" y="2505456"/>
            <a:ext cx="182880" cy="18288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6309360" y="2478024"/>
            <a:ext cx="23591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FAA ranks 8th (15) despite being a binary gate — a key limitation of the additive scoring model.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053328" y="3282696"/>
            <a:ext cx="182880" cy="18288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6309360" y="3255264"/>
            <a:ext cx="23591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Private Pilots rank 9th despite being the primary human operator — operator vs. check-writer bias.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053328" y="4059936"/>
            <a:ext cx="182880" cy="18288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6309360" y="4032504"/>
            <a:ext cx="23591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3 critical value loops identified linking safety, capital, and operational sustainment.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Stakeholder Value Network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48640" y="13075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22"/>
          <p:cNvCxnSpPr/>
          <p:nvPr/>
        </p:nvCxnSpPr>
        <p:spPr>
          <a:xfrm>
            <a:off x="5349240" y="132588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22"/>
          <p:cNvSpPr/>
          <p:nvPr/>
        </p:nvSpPr>
        <p:spPr>
          <a:xfrm>
            <a:off x="548640" y="25420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48640" y="2788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554480" y="2514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554480" y="28529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2"/>
          <p:cNvCxnSpPr/>
          <p:nvPr/>
        </p:nvCxnSpPr>
        <p:spPr>
          <a:xfrm>
            <a:off x="5349240" y="256032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2"/>
          <p:cNvSpPr/>
          <p:nvPr/>
        </p:nvSpPr>
        <p:spPr>
          <a:xfrm>
            <a:off x="5486400" y="2514600"/>
            <a:ext cx="3108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48640" y="377647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48640" y="40233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1554480" y="37490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1554480" y="40873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2"/>
          <p:cNvCxnSpPr/>
          <p:nvPr/>
        </p:nvCxnSpPr>
        <p:spPr>
          <a:xfrm>
            <a:off x="5349240" y="379476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2"/>
          <p:cNvSpPr/>
          <p:nvPr/>
        </p:nvSpPr>
        <p:spPr>
          <a:xfrm>
            <a:off x="-2872719" y="2171700"/>
            <a:ext cx="3108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65760" y="4709160"/>
            <a:ext cx="8412480" cy="33832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48640" y="4736592"/>
            <a:ext cx="80467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The aircraft behaves as a socio-technical ecosystem, not an isolated engineering product.</a:t>
            </a:r>
            <a:endParaRPr/>
          </a:p>
        </p:txBody>
      </p:sp>
      <p:pic>
        <p:nvPicPr>
          <p:cNvPr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781812"/>
            <a:ext cx="5905500" cy="368853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/>
          <p:nvPr/>
        </p:nvSpPr>
        <p:spPr>
          <a:xfrm>
            <a:off x="6400799" y="781814"/>
            <a:ext cx="2377439" cy="3715968"/>
          </a:xfrm>
          <a:prstGeom prst="rect">
            <a:avLst/>
          </a:prstGeom>
          <a:solidFill>
            <a:srgbClr val="1B26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SVN models how value, dependency, risk, and influence flow between the aircraft system and all connected stakeholders within the broader operational ecosystem.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1.Centralized hub-and-spoke ecosystem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CC2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2. Operator cluster drives network stability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CC2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3. Failures propagate beyond the aircraft itself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/>
          <p:nvPr/>
        </p:nvSpPr>
        <p:spPr>
          <a:xfrm>
            <a:off x="457200" y="220000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System Functional &amp; Physical Architecture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457200" y="71000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400"/>
              <a:buFont typeface="Calibri"/>
              <a:buNone/>
            </a:pPr>
            <a:r>
              <a:rPr b="0" lang="en" sz="1400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Level 1 Functional and Physical Architecture represented, which are further decomposed in 22 and 18 Level 2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457200" y="1005000"/>
            <a:ext cx="2700000" cy="320000"/>
          </a:xfrm>
          <a:prstGeom prst="rect">
            <a:avLst/>
          </a:prstGeom>
          <a:solidFill>
            <a:srgbClr val="1C3D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FUNCTIONS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200073" y="996250"/>
            <a:ext cx="2895600" cy="32000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SUBSYSTEMS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457200" y="1385000"/>
            <a:ext cx="2700000" cy="37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F1  Generate &amp; Manage Propulsion</a:t>
            </a:r>
            <a:b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Hybrid powertrain, energy flow, redundancy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457200" y="1800000"/>
            <a:ext cx="2700000" cy="37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F2  Control Flight Path</a:t>
            </a:r>
            <a:b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Pilot inputs, fly-by-wire, envelope protection</a:t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457200" y="2215000"/>
            <a:ext cx="2700000" cy="37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F3  Monitor &amp; Ensure Safety</a:t>
            </a:r>
            <a:b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Fault detection, CAPS, emergency recovery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457200" y="2630000"/>
            <a:ext cx="2700000" cy="37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F4  Manage Avionics &amp; Comms</a:t>
            </a:r>
            <a:b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Navigation, displays, autopilot, ATC link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457200" y="3045000"/>
            <a:ext cx="2700000" cy="37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F5  Support Cabin &amp; Payload</a:t>
            </a:r>
            <a:b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Cabin environment, modular payload bays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457200" y="3460000"/>
            <a:ext cx="2700000" cy="43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F6  Maintenance &amp; Health Management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200073" y="1362500"/>
            <a:ext cx="2895600" cy="440000"/>
          </a:xfrm>
          <a:prstGeom prst="rect">
            <a:avLst/>
          </a:prstGeom>
          <a:solidFill>
            <a:srgbClr val="D5EDE1"/>
          </a:solidFill>
          <a:ln cap="flat" cmpd="sng" w="18000">
            <a:solidFill>
              <a:srgbClr val="2E6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Propulsion System</a:t>
            </a:r>
            <a:b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Thermal engine, electric motors, gearbox, propeller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5200073" y="1869609"/>
            <a:ext cx="2895600" cy="440000"/>
          </a:xfrm>
          <a:prstGeom prst="rect">
            <a:avLst/>
          </a:prstGeom>
          <a:solidFill>
            <a:srgbClr val="D5EDE1"/>
          </a:solidFill>
          <a:ln cap="flat" cmpd="sng" w="18000">
            <a:solidFill>
              <a:srgbClr val="2E6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Electrical &amp; Energy System</a:t>
            </a:r>
            <a:b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Battery packs, power electronics, PDU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5200073" y="2375000"/>
            <a:ext cx="2895600" cy="440000"/>
          </a:xfrm>
          <a:prstGeom prst="rect">
            <a:avLst/>
          </a:prstGeom>
          <a:solidFill>
            <a:srgbClr val="D5EDE1"/>
          </a:solidFill>
          <a:ln cap="flat" cmpd="sng" w="18000">
            <a:solidFill>
              <a:srgbClr val="2E6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Flight &amp; Control System</a:t>
            </a:r>
            <a:b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FCC, actuators, avionics, control surfaces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5200073" y="2898282"/>
            <a:ext cx="2895600" cy="440000"/>
          </a:xfrm>
          <a:prstGeom prst="rect">
            <a:avLst/>
          </a:prstGeom>
          <a:solidFill>
            <a:srgbClr val="D5EDE1"/>
          </a:solidFill>
          <a:ln cap="flat" cmpd="sng" w="18000">
            <a:solidFill>
              <a:srgbClr val="2E6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Safety &amp; Support System</a:t>
            </a:r>
            <a:b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Health monitoring, env. ctrl, backup power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200073" y="3441564"/>
            <a:ext cx="2895600" cy="440000"/>
          </a:xfrm>
          <a:prstGeom prst="rect">
            <a:avLst/>
          </a:prstGeom>
          <a:solidFill>
            <a:srgbClr val="D5EDE1"/>
          </a:solidFill>
          <a:ln cap="flat" cmpd="sng" w="18000">
            <a:solidFill>
              <a:srgbClr val="2E6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Airframe</a:t>
            </a:r>
            <a:b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Fuselage, wings, tail, landing gear, structure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457200" y="4370000"/>
            <a:ext cx="7638473" cy="25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100"/>
              <a:buFont typeface="Calibri"/>
              <a:buNone/>
            </a:pPr>
            <a:r>
              <a:rPr b="0" lang="en" sz="1100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Decisions D1–D8 are subsystem-level architectural choices, each directly maps to one or more physical blocks above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Tradespace Formulation-Architectural Decisions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250"/>
              <a:buFont typeface="Calibri"/>
              <a:buNone/>
            </a:pPr>
            <a:r>
              <a:rPr i="1" lang="en" sz="12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8 architectural decisions × constrained combinations = 184,212 feasible architectures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0" name="Google Shape;260;p24"/>
          <p:cNvGraphicFramePr/>
          <p:nvPr/>
        </p:nvGraphicFramePr>
        <p:xfrm>
          <a:off x="36576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{769A8F98-7D05-414A-9F44-D7E8C997C524}</a:tableStyleId>
              </a:tblPr>
              <a:tblGrid>
                <a:gridCol w="502925"/>
                <a:gridCol w="2423150"/>
                <a:gridCol w="640075"/>
                <a:gridCol w="4846325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Name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Alternatives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2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4A2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Propulsion Topology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Series Hybrid / Parallel Hybrid / Turboelectric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DAD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A8DAD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Battery Chemistry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Li-Ion NMC / Li-Ion LFP / Solid-State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2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4A2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Electric Motors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motor / 2 motors / 4 motors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DAD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A8DAD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Motor-to-Airframe Position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candidate positions — constrained by D1 &amp; D3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2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4A2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FCC Redundancy Level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Simplex / Dual-Redundant / Triple-Redundant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DAD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A8DAD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Avionics Integration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Federated / Integrated Modular Avionics (IMA)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DAD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A8DAD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Subsystem LRU Decomposition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or 3 LRU packages — constrained by D5 &amp; D6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DAD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A8DAD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Ballistic Parachute (CAPS)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Installed / Not Installed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24"/>
          <p:cNvSpPr/>
          <p:nvPr/>
        </p:nvSpPr>
        <p:spPr>
          <a:xfrm>
            <a:off x="365760" y="4800600"/>
            <a:ext cx="8412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★  Hub decisions (D1, D3, D5) must be frozen early, they carry the largest cross-metric influence and widest downstream coupling.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Architectural Decision Graph (ADG)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i="1" lang="en" sz="125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Four enumeration-level constraints reduce feasible architectures, decisions are NOT independent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3611880" y="96012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48640" y="182880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1920240" y="18288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3063240" y="182880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257800" y="18288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400800" y="18288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1691640" y="29718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3474720" y="39319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7863840" y="10058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7863840" y="15087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7863840" y="20116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365760" y="38862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Enumeration-Level Constraints: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365760" y="41879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D1 → D4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1417320" y="4187952"/>
            <a:ext cx="23850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Topology limits valid motor mounting positions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365760" y="44165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D3 → D4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1417320" y="4416552"/>
            <a:ext cx="23850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Motor count sets the size of the position matrix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365760" y="46451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D5 → D7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1417320" y="4645152"/>
            <a:ext cx="225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Triple FCC forces ≥3 separate LRU packages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365760" y="48737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D6 → D7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1417320" y="4873752"/>
            <a:ext cx="23850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Avionics style constrains LRU co-packaging rules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921258"/>
            <a:ext cx="4381500" cy="40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Space Size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250"/>
              <a:buFont typeface="Calibri"/>
              <a:buNone/>
            </a:pPr>
            <a:r>
              <a:rPr i="1" lang="en" sz="12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How 184,212 feasible architectures are derived all exhaustively evaluated, no sampling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26"/>
          <p:cNvGraphicFramePr/>
          <p:nvPr/>
        </p:nvGraphicFramePr>
        <p:xfrm>
          <a:off x="36576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{769A8F98-7D05-414A-9F44-D7E8C997C524}</a:tableStyleId>
              </a:tblPr>
              <a:tblGrid>
                <a:gridCol w="2103125"/>
                <a:gridCol w="594350"/>
                <a:gridCol w="640075"/>
                <a:gridCol w="214885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 Propulsion Topology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Series / Parallel / Turboelectric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 Battery Chemistry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NMC / LFP / Solid-State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 Number of Motors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/ 2 / 4 motors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 Motor Position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2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4A2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Constrained by D1×D3 — n=4 or 5 positions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D5 FCC Redundancy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Simplex / Dual / Triple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D6 Avionics Integration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Federated / IMA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D7 LRU Decomposition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2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4A2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Constrained by D5×D6 — S(6,2) + S(6,3)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D8 CAPS Parachute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Installed / Not Installed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</a:tbl>
          </a:graphicData>
        </a:graphic>
      </p:graphicFrame>
      <p:sp>
        <p:nvSpPr>
          <p:cNvPr id="298" name="Google Shape;298;p26"/>
          <p:cNvSpPr/>
          <p:nvPr/>
        </p:nvSpPr>
        <p:spPr>
          <a:xfrm>
            <a:off x="6080760" y="1097280"/>
            <a:ext cx="2743200" cy="3611880"/>
          </a:xfrm>
          <a:prstGeom prst="rect">
            <a:avLst/>
          </a:prstGeom>
          <a:solidFill>
            <a:srgbClr val="1B26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6080760" y="1097280"/>
            <a:ext cx="2743200" cy="54864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6172200" y="120700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Total Feasible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Architectures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6172200" y="1901952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184,212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6172200" y="27432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i="1" lang="en" sz="100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= 51 × 3 × 301 × 2 ×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26"/>
          <p:cNvCxnSpPr/>
          <p:nvPr/>
        </p:nvCxnSpPr>
        <p:spPr>
          <a:xfrm>
            <a:off x="6400800" y="3108960"/>
            <a:ext cx="2103120" cy="0"/>
          </a:xfrm>
          <a:prstGeom prst="straightConnector1">
            <a:avLst/>
          </a:prstGeom>
          <a:noFill/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26"/>
          <p:cNvSpPr/>
          <p:nvPr/>
        </p:nvSpPr>
        <p:spPr>
          <a:xfrm>
            <a:off x="6172200" y="321868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Full enumeration.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No sampling used.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All configs evaluated.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365760" y="4791456"/>
            <a:ext cx="8412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SF = Standard Form (pick-one)  ·  DS = Downselecting  ·  PA = Partitioning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/>
          <p:nvPr/>
        </p:nvSpPr>
        <p:spPr>
          <a:xfrm>
            <a:off x="13" y="0"/>
            <a:ext cx="4572000" cy="514350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1B2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4544540" y="0"/>
            <a:ext cx="54900" cy="5143500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751700" y="224375"/>
            <a:ext cx="31089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Optimal Architecture: Balanced Efficiency</a:t>
            </a:r>
            <a:endParaRPr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365750" y="1427838"/>
            <a:ext cx="388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lang="en" sz="1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Selection of Pareto-Optimal Architecture A via MOGA Optimization</a:t>
            </a:r>
            <a:endParaRPr i="0" sz="1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29"/>
          <p:cNvGrpSpPr/>
          <p:nvPr/>
        </p:nvGrpSpPr>
        <p:grpSpPr>
          <a:xfrm>
            <a:off x="985548" y="1816926"/>
            <a:ext cx="2600918" cy="1974797"/>
            <a:chOff x="-81004" y="-170113"/>
            <a:chExt cx="4353000" cy="3305100"/>
          </a:xfrm>
        </p:grpSpPr>
        <p:pic>
          <p:nvPicPr>
            <p:cNvPr id="324" name="Google Shape;324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81004" y="-170113"/>
              <a:ext cx="4353000" cy="3305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5" name="Google Shape;325;p29"/>
            <p:cNvGrpSpPr/>
            <p:nvPr/>
          </p:nvGrpSpPr>
          <p:grpSpPr>
            <a:xfrm>
              <a:off x="190500" y="190500"/>
              <a:ext cx="3810000" cy="2476500"/>
              <a:chOff x="0" y="0"/>
              <a:chExt cx="3810000" cy="2476500"/>
            </a:xfrm>
          </p:grpSpPr>
          <p:sp>
            <p:nvSpPr>
              <p:cNvPr id="326" name="Google Shape;326;p29"/>
              <p:cNvSpPr txBox="1"/>
              <p:nvPr/>
            </p:nvSpPr>
            <p:spPr>
              <a:xfrm>
                <a:off x="0" y="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57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Propulsion (D1)</a:t>
                </a:r>
                <a:endParaRPr b="1" sz="657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29"/>
              <p:cNvSpPr txBox="1"/>
              <p:nvPr/>
            </p:nvSpPr>
            <p:spPr>
              <a:xfrm>
                <a:off x="190500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7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Parallel Hybrid</a:t>
                </a:r>
                <a:endParaRPr sz="657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28" name="Google Shape;328;p29"/>
              <p:cNvCxnSpPr/>
              <p:nvPr/>
            </p:nvCxnSpPr>
            <p:spPr>
              <a:xfrm>
                <a:off x="0" y="428625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5700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29" name="Google Shape;329;p29"/>
              <p:cNvSpPr txBox="1"/>
              <p:nvPr/>
            </p:nvSpPr>
            <p:spPr>
              <a:xfrm>
                <a:off x="0" y="523875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57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Energy Storage (D2)</a:t>
                </a:r>
                <a:endParaRPr b="1" sz="657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29"/>
              <p:cNvSpPr txBox="1"/>
              <p:nvPr/>
            </p:nvSpPr>
            <p:spPr>
              <a:xfrm>
                <a:off x="1905000" y="523875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7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Li-Ion (High Density)</a:t>
                </a:r>
                <a:endParaRPr sz="657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1" name="Google Shape;331;p29"/>
              <p:cNvCxnSpPr/>
              <p:nvPr/>
            </p:nvCxnSpPr>
            <p:spPr>
              <a:xfrm>
                <a:off x="0" y="952500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5700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2" name="Google Shape;332;p29"/>
              <p:cNvSpPr txBox="1"/>
              <p:nvPr/>
            </p:nvSpPr>
            <p:spPr>
              <a:xfrm>
                <a:off x="0" y="104775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57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Motor Setup (D3/D4)</a:t>
                </a:r>
                <a:endParaRPr b="1" sz="657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29"/>
              <p:cNvSpPr txBox="1"/>
              <p:nvPr/>
            </p:nvSpPr>
            <p:spPr>
              <a:xfrm>
                <a:off x="1905000" y="10477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7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2+ Motors, Wing-Mounted</a:t>
                </a:r>
                <a:endParaRPr sz="657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4" name="Google Shape;334;p29"/>
              <p:cNvCxnSpPr/>
              <p:nvPr/>
            </p:nvCxnSpPr>
            <p:spPr>
              <a:xfrm>
                <a:off x="0" y="1476375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5700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5" name="Google Shape;335;p29"/>
              <p:cNvSpPr txBox="1"/>
              <p:nvPr/>
            </p:nvSpPr>
            <p:spPr>
              <a:xfrm>
                <a:off x="0" y="1571625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57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Control (D5/D6)</a:t>
                </a:r>
                <a:endParaRPr b="1" sz="657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29"/>
              <p:cNvSpPr txBox="1"/>
              <p:nvPr/>
            </p:nvSpPr>
            <p:spPr>
              <a:xfrm>
                <a:off x="1905000" y="1571625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7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Dual-Lane FCC &amp; IMA</a:t>
                </a:r>
                <a:endParaRPr sz="657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7" name="Google Shape;337;p29"/>
              <p:cNvCxnSpPr/>
              <p:nvPr/>
            </p:nvCxnSpPr>
            <p:spPr>
              <a:xfrm>
                <a:off x="0" y="2000250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5700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8" name="Google Shape;338;p29"/>
              <p:cNvSpPr txBox="1"/>
              <p:nvPr/>
            </p:nvSpPr>
            <p:spPr>
              <a:xfrm>
                <a:off x="0" y="209550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57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Safety (D8)</a:t>
                </a:r>
                <a:endParaRPr b="1" sz="657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29"/>
              <p:cNvSpPr txBox="1"/>
              <p:nvPr/>
            </p:nvSpPr>
            <p:spPr>
              <a:xfrm>
                <a:off x="1905000" y="209550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7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CAPS Installed</a:t>
                </a:r>
                <a:endParaRPr sz="657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0" name="Google Shape;340;p29"/>
          <p:cNvGrpSpPr/>
          <p:nvPr/>
        </p:nvGrpSpPr>
        <p:grpSpPr>
          <a:xfrm>
            <a:off x="985550" y="3924900"/>
            <a:ext cx="2600918" cy="836560"/>
            <a:chOff x="-80962" y="-61912"/>
            <a:chExt cx="4353000" cy="1400100"/>
          </a:xfrm>
        </p:grpSpPr>
        <p:pic>
          <p:nvPicPr>
            <p:cNvPr id="341" name="Google Shape;341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80962" y="-61912"/>
              <a:ext cx="4353000" cy="1400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2" name="Google Shape;342;p29"/>
            <p:cNvGrpSpPr/>
            <p:nvPr/>
          </p:nvGrpSpPr>
          <p:grpSpPr>
            <a:xfrm>
              <a:off x="171421" y="352362"/>
              <a:ext cx="4000500" cy="571500"/>
              <a:chOff x="-19079" y="161862"/>
              <a:chExt cx="4000500" cy="571500"/>
            </a:xfrm>
          </p:grpSpPr>
          <p:sp>
            <p:nvSpPr>
              <p:cNvPr id="343" name="Google Shape;343;p29"/>
              <p:cNvSpPr txBox="1"/>
              <p:nvPr/>
            </p:nvSpPr>
            <p:spPr>
              <a:xfrm>
                <a:off x="-19079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14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$1450</a:t>
                </a:r>
                <a:endParaRPr b="1" sz="1314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8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Op. Cost / hr</a:t>
                </a:r>
                <a:endParaRPr sz="538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29"/>
              <p:cNvSpPr txBox="1"/>
              <p:nvPr/>
            </p:nvSpPr>
            <p:spPr>
              <a:xfrm>
                <a:off x="1028671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14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5.5 yr</a:t>
                </a:r>
                <a:endParaRPr b="1" sz="1314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8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Cert. Schedule</a:t>
                </a:r>
                <a:endParaRPr sz="538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29"/>
              <p:cNvSpPr txBox="1"/>
              <p:nvPr/>
            </p:nvSpPr>
            <p:spPr>
              <a:xfrm>
                <a:off x="2076421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14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99.1%</a:t>
                </a:r>
                <a:endParaRPr b="1" sz="1314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8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Reliability</a:t>
                </a:r>
                <a:endParaRPr sz="538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9"/>
              <p:cNvSpPr txBox="1"/>
              <p:nvPr/>
            </p:nvSpPr>
            <p:spPr>
              <a:xfrm>
                <a:off x="3028921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14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 yr</a:t>
                </a:r>
                <a:endParaRPr b="1" sz="1314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8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Durability</a:t>
                </a:r>
                <a:endParaRPr sz="538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7" name="Google Shape;347;p29"/>
          <p:cNvSpPr/>
          <p:nvPr/>
        </p:nvSpPr>
        <p:spPr>
          <a:xfrm>
            <a:off x="5283400" y="224375"/>
            <a:ext cx="31089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Operational Lifecycle &amp; Use Cases</a:t>
            </a:r>
            <a:endParaRPr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4925450" y="1427838"/>
            <a:ext cx="388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lang="en" sz="1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State Transitions and Functional Flow for the RUGA Aircraft</a:t>
            </a:r>
            <a:endParaRPr i="0" sz="1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6428" y="1970750"/>
            <a:ext cx="3522851" cy="169211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9"/>
          <p:cNvSpPr/>
          <p:nvPr/>
        </p:nvSpPr>
        <p:spPr>
          <a:xfrm>
            <a:off x="5076425" y="3824025"/>
            <a:ext cx="6867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000" marR="1242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Primary Use Case:</a:t>
            </a:r>
            <a:r>
              <a:rPr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Conversion of fuel/energy (F1) into thrust to control flight path (F2), supported by real-time safety monitoring (F3) and automated avionics (F4).</a:t>
            </a:r>
            <a:endParaRPr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7912575" y="3824025"/>
            <a:ext cx="6867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000" marR="1242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Resilience Logic:</a:t>
            </a:r>
            <a:r>
              <a:rPr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Any flight-phase fault routes immediately to the Emergency state, prioritizing ground resolution or emergency landing over mission completion.</a:t>
            </a:r>
            <a:endParaRPr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6494500" y="3824025"/>
            <a:ext cx="6867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000" marR="1242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Lifecycle States:</a:t>
            </a:r>
            <a:r>
              <a:rPr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The system transitions from </a:t>
            </a:r>
            <a:r>
              <a:rPr b="1"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r>
              <a:rPr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through </a:t>
            </a:r>
            <a:r>
              <a:rPr b="1"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Pre-Flight</a:t>
            </a:r>
            <a:r>
              <a:rPr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1"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Cruising</a:t>
            </a:r>
            <a:r>
              <a:rPr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with a dedicated </a:t>
            </a:r>
            <a:r>
              <a:rPr b="1"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Emergency</a:t>
            </a:r>
            <a:r>
              <a:rPr lang="en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state triggered by system faults.</a:t>
            </a:r>
            <a:endParaRPr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lang="en" sz="3000">
                <a:latin typeface="Calibri"/>
                <a:ea typeface="Calibri"/>
                <a:cs typeface="Calibri"/>
                <a:sym typeface="Calibri"/>
              </a:rPr>
              <a:t>System Hierarchy &amp; Physical Blocks</a:t>
            </a:r>
            <a:endParaRPr b="1" i="0" sz="30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457200" y="76809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i="1" lang="en" sz="12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Mapping 22 Level-2 Sub-functions to 5 Primary Physical Subsystems</a:t>
            </a:r>
            <a:endParaRPr i="1" sz="1200" u="none" cap="none" strike="noStrike">
              <a:solidFill>
                <a:srgbClr val="8FA3B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32004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320040" y="1234440"/>
            <a:ext cx="2651700" cy="502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4115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Subsystems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434450" y="2156850"/>
            <a:ext cx="2423100" cy="20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Airframe (B1)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Propulsion (B2)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Electrical/Energy (B3)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Flight Control (B4)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Safety/Support (B5)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320040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3200400" y="1234440"/>
            <a:ext cx="2651700" cy="5028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3314700" y="2368275"/>
            <a:ext cx="2423100" cy="17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parallel hybrid powertrain 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integrates a thermal engine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(B2.1) with electric motors (B2.2)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a mechanical gearbox (B2.3).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608076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6080760" y="1234440"/>
            <a:ext cx="2651700" cy="5028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329175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Physical Core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61720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Intelligence Layer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6263700" y="2368275"/>
            <a:ext cx="2423100" cy="17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Dual Flight Control Computers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(B4.1) manage the "Control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Path" while the Health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System (B5.1)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governs the "Resilience Logic."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/>
          <p:nvPr/>
        </p:nvSpPr>
        <p:spPr>
          <a:xfrm>
            <a:off x="0" y="0"/>
            <a:ext cx="3749100" cy="514350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1B2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3749040" y="0"/>
            <a:ext cx="54900" cy="5143500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365760" y="365760"/>
            <a:ext cx="3108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Connectivity &amp; Allocation</a:t>
            </a:r>
            <a:endParaRPr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1"/>
          <p:cNvSpPr/>
          <p:nvPr/>
        </p:nvSpPr>
        <p:spPr>
          <a:xfrm>
            <a:off x="365760" y="1920240"/>
            <a:ext cx="310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b="1" lang="en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High-Density Coupling and Interface Management</a:t>
            </a:r>
            <a:endParaRPr b="1" i="0" sz="9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365750" y="2299452"/>
            <a:ext cx="32004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4400" wrap="square" tIns="0">
            <a:noAutofit/>
          </a:bodyPr>
          <a:lstStyle/>
          <a:p>
            <a:pPr indent="-250825" lvl="0" marL="269999" marR="20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b="1"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Interface Hubs: </a:t>
            </a: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Airframe acts as the physical hub (structural support), while the Power Distribution Unit (PDU) acts as the electrical bus.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269999" marR="20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825" lvl="0" marL="269999" marR="20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b="1"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Allocated Logic: </a:t>
            </a: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Safety functions (F3, F6) are strictly allocated to the Safety &amp; Support subsystem to ensure prognostic independence.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269999" marR="20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825" lvl="0" marL="269999" marR="20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b="1"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DSM Insights: </a:t>
            </a: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Level-2 analysis reveals dense mechanical coupling in the propulsion chain and high informational connectivity for the FCC and Health Monitoring units.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5500" y="728375"/>
            <a:ext cx="4595224" cy="35435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bevel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2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i="0" sz="30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457200" y="76809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i="1" lang="en" sz="1200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Summary of Findings, Targets, and Future Technical Growth</a:t>
            </a:r>
            <a:endParaRPr i="1" sz="1200" u="none" cap="none" strike="noStrike">
              <a:solidFill>
                <a:srgbClr val="8FA3B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32004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320040" y="1234440"/>
            <a:ext cx="2651700" cy="502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4115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434350" y="1929400"/>
            <a:ext cx="2423100" cy="27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Hubs: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Propulsion Topology (D1) and Motor Count (D3) drive the greatest system impact.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"Safety Rule":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Series hybrids with wing-centered redundancy and CAPS augmentation consistently dominate the Pareto front.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Requirement: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Propulsion redundancy is structurally necessary for market competitiveness.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2"/>
          <p:cNvSpPr/>
          <p:nvPr/>
        </p:nvSpPr>
        <p:spPr>
          <a:xfrm>
            <a:off x="320040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3200400" y="1234440"/>
            <a:ext cx="2651700" cy="5028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608076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6080760" y="1234440"/>
            <a:ext cx="2651700" cy="5028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329175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Metrics vs. Targets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61720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6263700" y="2368275"/>
            <a:ext cx="2423100" cy="17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Transition from conceptual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surrogate models to high-fidelity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physics-based simulations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(CFD/FEA) and stochastic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certification risk modeling.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3291750" y="1974875"/>
            <a:ext cx="2423100" cy="27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Reliability: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99.10% (Target: ≥99%) – </a:t>
            </a: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Durability: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8 Years (Target: G4) – </a:t>
            </a: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Schedule: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5.5 Years – </a:t>
            </a: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